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0" r:id="rId1"/>
    <p:sldMasterId id="2147483995" r:id="rId2"/>
  </p:sldMasterIdLst>
  <p:notesMasterIdLst>
    <p:notesMasterId r:id="rId23"/>
  </p:notesMasterIdLst>
  <p:sldIdLst>
    <p:sldId id="471" r:id="rId3"/>
    <p:sldId id="466" r:id="rId4"/>
    <p:sldId id="557" r:id="rId5"/>
    <p:sldId id="558" r:id="rId6"/>
    <p:sldId id="559" r:id="rId7"/>
    <p:sldId id="560" r:id="rId8"/>
    <p:sldId id="561" r:id="rId9"/>
    <p:sldId id="569" r:id="rId10"/>
    <p:sldId id="570" r:id="rId11"/>
    <p:sldId id="562" r:id="rId12"/>
    <p:sldId id="568" r:id="rId13"/>
    <p:sldId id="563" r:id="rId14"/>
    <p:sldId id="564" r:id="rId15"/>
    <p:sldId id="567" r:id="rId16"/>
    <p:sldId id="565" r:id="rId17"/>
    <p:sldId id="566" r:id="rId18"/>
    <p:sldId id="542" r:id="rId19"/>
    <p:sldId id="546" r:id="rId20"/>
    <p:sldId id="479" r:id="rId21"/>
    <p:sldId id="478" r:id="rId22"/>
  </p:sldIdLst>
  <p:sldSz cx="12192000" cy="64008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A86"/>
    <a:srgbClr val="DEA900"/>
    <a:srgbClr val="EE9524"/>
    <a:srgbClr val="03A1A4"/>
    <a:srgbClr val="FF5050"/>
    <a:srgbClr val="2898AE"/>
    <a:srgbClr val="EF3078"/>
    <a:srgbClr val="129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>
        <p:guide orient="horz" pos="201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7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C08C13-CC0B-4C21-AAD6-E9E4817F44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72BF0-2F33-4B17-9E10-C415E93E735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C2A2BDE-0D09-4B7A-A6E5-75C8F0139F48}" type="datetimeFigureOut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8DC4236-C85B-4BB3-A319-7231DEBAC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0538" y="1143000"/>
            <a:ext cx="5876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DECBBB-E38E-4A89-8CAF-055A316A4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09A27-CF91-4246-9662-040DBA5507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74553-1AF1-418E-B2AB-711A46836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A9865AD-1961-41B5-ACF0-3172685800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14" algn="l" defTabSz="91432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78" algn="l" defTabSz="91432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40" algn="l" defTabSz="91432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04" algn="l" defTabSz="91432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166;g1c50c738b6_2_159:notes">
            <a:extLst>
              <a:ext uri="{FF2B5EF4-FFF2-40B4-BE49-F238E27FC236}">
                <a16:creationId xmlns:a16="http://schemas.microsoft.com/office/drawing/2014/main" id="{259E314A-BD7D-4768-BFC0-8919FA271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2531" name="Google Shape;167;g1c50c738b6_2_159:notes">
            <a:extLst>
              <a:ext uri="{FF2B5EF4-FFF2-40B4-BE49-F238E27FC236}">
                <a16:creationId xmlns:a16="http://schemas.microsoft.com/office/drawing/2014/main" id="{B25EBC38-0F30-4967-9F91-EDDBB2DB158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63513" y="685800"/>
            <a:ext cx="6530975" cy="3429000"/>
          </a:xfrm>
          <a:custGeom>
            <a:avLst/>
            <a:gdLst>
              <a:gd name="T0" fmla="*/ 0 w 120000"/>
              <a:gd name="T1" fmla="*/ 0 h 120000"/>
              <a:gd name="T2" fmla="*/ 6530975 w 120000"/>
              <a:gd name="T3" fmla="*/ 0 h 120000"/>
              <a:gd name="T4" fmla="*/ 6530975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166;g1c50c738b6_2_159:notes">
            <a:extLst>
              <a:ext uri="{FF2B5EF4-FFF2-40B4-BE49-F238E27FC236}">
                <a16:creationId xmlns:a16="http://schemas.microsoft.com/office/drawing/2014/main" id="{033493CD-689A-4D6C-94A0-F086E1D10B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24579" name="Google Shape;167;g1c50c738b6_2_159:notes">
            <a:extLst>
              <a:ext uri="{FF2B5EF4-FFF2-40B4-BE49-F238E27FC236}">
                <a16:creationId xmlns:a16="http://schemas.microsoft.com/office/drawing/2014/main" id="{D8F4BF3B-9910-4B01-8B8F-C7599F1A7A9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63513" y="685800"/>
            <a:ext cx="6530975" cy="3429000"/>
          </a:xfrm>
          <a:custGeom>
            <a:avLst/>
            <a:gdLst>
              <a:gd name="T0" fmla="*/ 0 w 120000"/>
              <a:gd name="T1" fmla="*/ 0 h 120000"/>
              <a:gd name="T2" fmla="*/ 6530975 w 120000"/>
              <a:gd name="T3" fmla="*/ 0 h 120000"/>
              <a:gd name="T4" fmla="*/ 6530975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7542"/>
            <a:ext cx="9144000" cy="22284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61904"/>
            <a:ext cx="9144000" cy="1545378"/>
          </a:xfrm>
        </p:spPr>
        <p:txBody>
          <a:bodyPr/>
          <a:lstStyle>
            <a:lvl1pPr marL="0" indent="0" algn="ctr">
              <a:buNone/>
              <a:defRPr sz="2300"/>
            </a:lvl1pPr>
            <a:lvl2pPr marL="457162" indent="0" algn="ctr">
              <a:buNone/>
              <a:defRPr sz="2000"/>
            </a:lvl2pPr>
            <a:lvl3pPr marL="914326" indent="0" algn="ctr">
              <a:buNone/>
              <a:defRPr sz="1800"/>
            </a:lvl3pPr>
            <a:lvl4pPr marL="1371488" indent="0" algn="ctr">
              <a:buNone/>
              <a:defRPr sz="1600"/>
            </a:lvl4pPr>
            <a:lvl5pPr marL="1828652" indent="0" algn="ctr">
              <a:buNone/>
              <a:defRPr sz="1600"/>
            </a:lvl5pPr>
            <a:lvl6pPr marL="2285814" indent="0" algn="ctr">
              <a:buNone/>
              <a:defRPr sz="1600"/>
            </a:lvl6pPr>
            <a:lvl7pPr marL="2742978" indent="0" algn="ctr">
              <a:buNone/>
              <a:defRPr sz="1600"/>
            </a:lvl7pPr>
            <a:lvl8pPr marL="3200140" indent="0" algn="ctr">
              <a:buNone/>
              <a:defRPr sz="1600"/>
            </a:lvl8pPr>
            <a:lvl9pPr marL="365730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92E7-49E9-465A-B1CE-A521DBC6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44590-28FC-4584-BB5A-A84190F37A13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1F28C-75A0-4ABF-93EF-8861A4CC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C9964-D0AB-4FF3-AD64-FFE42496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236DF-9403-44F8-A17B-90F2FAB972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60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F25F-F5C2-46E3-B7DA-F305F53F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1E437-0F08-4BE8-8EF8-7210D3C7DFCC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AB5A-DADC-4D77-877D-8319B285F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D9A00-63E5-4BC3-AF07-C8D8101A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E5B024-A9B3-4A6D-8F4C-712F185C2F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99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595756"/>
            <a:ext cx="10515600" cy="266255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283500"/>
            <a:ext cx="10515600" cy="1400174"/>
          </a:xfrm>
        </p:spPr>
        <p:txBody>
          <a:bodyPr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45716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0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FC8C4-0BB0-42EA-87DC-F7A41153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0F794-1236-4850-A7A5-A225C893260D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9D88-768B-4287-8D00-E569C365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971BD-1952-474D-B00D-1C04530B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76DF2-22AE-45FE-B860-8EBBBAC095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052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03918"/>
            <a:ext cx="5181600" cy="4061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03918"/>
            <a:ext cx="5181600" cy="4061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F8DA0BF-F09F-417F-BEE5-4F7BC9AA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D8CF57-AA92-435A-AE19-F7D0D6FF0708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A0398F4-3677-4784-9888-3906FD97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F51B86-3078-457B-B547-801272B5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1F83B-CB21-4570-914F-2D8F750034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67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40785"/>
            <a:ext cx="10515600" cy="1237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2" y="1569085"/>
            <a:ext cx="5157787" cy="768985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62" indent="0">
              <a:buNone/>
              <a:defRPr sz="2000" b="1"/>
            </a:lvl2pPr>
            <a:lvl3pPr marL="914326" indent="0">
              <a:buNone/>
              <a:defRPr sz="1800" b="1"/>
            </a:lvl3pPr>
            <a:lvl4pPr marL="1371488" indent="0">
              <a:buNone/>
              <a:defRPr sz="1600" b="1"/>
            </a:lvl4pPr>
            <a:lvl5pPr marL="1828652" indent="0">
              <a:buNone/>
              <a:defRPr sz="1600" b="1"/>
            </a:lvl5pPr>
            <a:lvl6pPr marL="2285814" indent="0">
              <a:buNone/>
              <a:defRPr sz="1600" b="1"/>
            </a:lvl6pPr>
            <a:lvl7pPr marL="2742978" indent="0">
              <a:buNone/>
              <a:defRPr sz="1600" b="1"/>
            </a:lvl7pPr>
            <a:lvl8pPr marL="3200140" indent="0">
              <a:buNone/>
              <a:defRPr sz="1600" b="1"/>
            </a:lvl8pPr>
            <a:lvl9pPr marL="365730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2" y="2338073"/>
            <a:ext cx="5157787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569085"/>
            <a:ext cx="5183188" cy="768985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57162" indent="0">
              <a:buNone/>
              <a:defRPr sz="2000" b="1"/>
            </a:lvl2pPr>
            <a:lvl3pPr marL="914326" indent="0">
              <a:buNone/>
              <a:defRPr sz="1800" b="1"/>
            </a:lvl3pPr>
            <a:lvl4pPr marL="1371488" indent="0">
              <a:buNone/>
              <a:defRPr sz="1600" b="1"/>
            </a:lvl4pPr>
            <a:lvl5pPr marL="1828652" indent="0">
              <a:buNone/>
              <a:defRPr sz="1600" b="1"/>
            </a:lvl5pPr>
            <a:lvl6pPr marL="2285814" indent="0">
              <a:buNone/>
              <a:defRPr sz="1600" b="1"/>
            </a:lvl6pPr>
            <a:lvl7pPr marL="2742978" indent="0">
              <a:buNone/>
              <a:defRPr sz="1600" b="1"/>
            </a:lvl7pPr>
            <a:lvl8pPr marL="3200140" indent="0">
              <a:buNone/>
              <a:defRPr sz="1600" b="1"/>
            </a:lvl8pPr>
            <a:lvl9pPr marL="365730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338073"/>
            <a:ext cx="5183188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9A7CEE7-C6A7-464E-A682-EE8C0B35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0B463-AE1C-4A77-9208-AA74890D354C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7E14BA4-658B-49C7-9652-706BB3F2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A8A9271-9FEA-48BD-A683-3FF3D2BD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9C810-0CBF-4010-A085-77B04B4F3B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826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888FB7B-8626-4607-A267-C1DEE275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D126E-EF1B-4B03-B30E-9117659EB1E4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C2E347-835E-4F0C-B4BA-097E1E059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FE8183-FE82-4C37-9989-D56978E3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81FDC-3C1D-4DCB-9124-2E0191572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544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B7A3E9-2DB0-46CB-8D86-1140AAAD6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7DB72-6951-4A24-A341-BE02A1082992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FA07209-0068-4446-90B1-1190519EA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9B59A3-D827-4F9D-9F0F-6813B478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3FF0A-D77F-412F-9C49-2C313F300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04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4" y="426720"/>
            <a:ext cx="3932237" cy="1493520"/>
          </a:xfrm>
        </p:spPr>
        <p:txBody>
          <a:bodyPr anchor="b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21598"/>
            <a:ext cx="6172200" cy="4548716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1920241"/>
            <a:ext cx="3932237" cy="3557482"/>
          </a:xfrm>
        </p:spPr>
        <p:txBody>
          <a:bodyPr/>
          <a:lstStyle>
            <a:lvl1pPr marL="0" indent="0">
              <a:buNone/>
              <a:defRPr sz="1600"/>
            </a:lvl1pPr>
            <a:lvl2pPr marL="457162" indent="0">
              <a:buNone/>
              <a:defRPr sz="1400"/>
            </a:lvl2pPr>
            <a:lvl3pPr marL="914326" indent="0">
              <a:buNone/>
              <a:defRPr sz="1200"/>
            </a:lvl3pPr>
            <a:lvl4pPr marL="1371488" indent="0">
              <a:buNone/>
              <a:defRPr sz="1000"/>
            </a:lvl4pPr>
            <a:lvl5pPr marL="1828652" indent="0">
              <a:buNone/>
              <a:defRPr sz="1000"/>
            </a:lvl5pPr>
            <a:lvl6pPr marL="2285814" indent="0">
              <a:buNone/>
              <a:defRPr sz="1000"/>
            </a:lvl6pPr>
            <a:lvl7pPr marL="2742978" indent="0">
              <a:buNone/>
              <a:defRPr sz="1000"/>
            </a:lvl7pPr>
            <a:lvl8pPr marL="3200140" indent="0">
              <a:buNone/>
              <a:defRPr sz="1000"/>
            </a:lvl8pPr>
            <a:lvl9pPr marL="365730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D01117-4436-4E7E-B1AB-173B8208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5058-5439-4488-84F5-CA09FD23EFFA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E08121-AFCC-435C-A6EF-55ADA562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C16C84-29F7-4142-923D-26C55537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50105-0627-4CA7-B8E3-F8AB4B526F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6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4" y="426720"/>
            <a:ext cx="3932237" cy="1493520"/>
          </a:xfrm>
        </p:spPr>
        <p:txBody>
          <a:bodyPr anchor="b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21598"/>
            <a:ext cx="6172200" cy="4548716"/>
          </a:xfrm>
        </p:spPr>
        <p:txBody>
          <a:bodyPr rtlCol="0">
            <a:normAutofit/>
          </a:bodyPr>
          <a:lstStyle>
            <a:lvl1pPr marL="0" indent="0">
              <a:buNone/>
              <a:defRPr sz="3300"/>
            </a:lvl1pPr>
            <a:lvl2pPr marL="457162" indent="0">
              <a:buNone/>
              <a:defRPr sz="2900"/>
            </a:lvl2pPr>
            <a:lvl3pPr marL="914326" indent="0">
              <a:buNone/>
              <a:defRPr sz="2300"/>
            </a:lvl3pPr>
            <a:lvl4pPr marL="1371488" indent="0">
              <a:buNone/>
              <a:defRPr sz="2000"/>
            </a:lvl4pPr>
            <a:lvl5pPr marL="1828652" indent="0">
              <a:buNone/>
              <a:defRPr sz="2000"/>
            </a:lvl5pPr>
            <a:lvl6pPr marL="2285814" indent="0">
              <a:buNone/>
              <a:defRPr sz="2000"/>
            </a:lvl6pPr>
            <a:lvl7pPr marL="2742978" indent="0">
              <a:buNone/>
              <a:defRPr sz="2000"/>
            </a:lvl7pPr>
            <a:lvl8pPr marL="3200140" indent="0">
              <a:buNone/>
              <a:defRPr sz="2000"/>
            </a:lvl8pPr>
            <a:lvl9pPr marL="3657304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4" y="1920241"/>
            <a:ext cx="3932237" cy="3557482"/>
          </a:xfrm>
        </p:spPr>
        <p:txBody>
          <a:bodyPr/>
          <a:lstStyle>
            <a:lvl1pPr marL="0" indent="0">
              <a:buNone/>
              <a:defRPr sz="1600"/>
            </a:lvl1pPr>
            <a:lvl2pPr marL="457162" indent="0">
              <a:buNone/>
              <a:defRPr sz="1400"/>
            </a:lvl2pPr>
            <a:lvl3pPr marL="914326" indent="0">
              <a:buNone/>
              <a:defRPr sz="1200"/>
            </a:lvl3pPr>
            <a:lvl4pPr marL="1371488" indent="0">
              <a:buNone/>
              <a:defRPr sz="1000"/>
            </a:lvl4pPr>
            <a:lvl5pPr marL="1828652" indent="0">
              <a:buNone/>
              <a:defRPr sz="1000"/>
            </a:lvl5pPr>
            <a:lvl6pPr marL="2285814" indent="0">
              <a:buNone/>
              <a:defRPr sz="1000"/>
            </a:lvl6pPr>
            <a:lvl7pPr marL="2742978" indent="0">
              <a:buNone/>
              <a:defRPr sz="1000"/>
            </a:lvl7pPr>
            <a:lvl8pPr marL="3200140" indent="0">
              <a:buNone/>
              <a:defRPr sz="1000"/>
            </a:lvl8pPr>
            <a:lvl9pPr marL="365730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DDFE78-73D6-4B7B-BE2B-FF7CCD1D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31964-D9B4-4EC2-96AA-9D62D2A1895D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411F9C-5DF1-4CFB-8E85-82F61E79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BB024-5B57-44B1-BA52-8E4FEBF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77244-3748-4768-AB7F-60B18BF81F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239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58CFD-5793-4B9D-B94B-55AC0BC1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05F83-962A-4EAD-B581-F39DBB9E7866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518E6-D49B-4D6D-9F14-E087B455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D8A25-533F-434E-A4BB-548A0547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ED364-8A1C-4EED-91BD-5C67E0876E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97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40783"/>
            <a:ext cx="2628900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40783"/>
            <a:ext cx="7734300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6AF3A-DCBA-459B-AC03-A5313162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9F251-274A-4830-AF78-C028BD11AC3D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F4ED-FAB2-4978-B6C8-F4DACE84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1A2EE-C48D-4445-A2F9-BC3761C5F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6419A-70AA-46F9-A616-5B035E8DC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519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9645"/>
            <a:ext cx="10972800" cy="4318109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47A46-BF57-4243-8D26-3394D7FD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BADC07-870A-4FB8-8925-2F78FE954597}" type="datetime1">
              <a:rPr lang="en-US" altLang="zh-TW"/>
              <a:pPr>
                <a:defRPr/>
              </a:pPr>
              <a:t>10/13/2026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92962-6D56-4B91-A31D-5C13F137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Swamy L N, Ph.D Dissertation Defense on Development of Novel algorithms for Sentiment Analysis of E-Commerce Applications using Machine Learning Techniques.”</a:t>
            </a: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C310-39F7-4BCC-B6C6-62A68D8B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B4831-AC17-472D-8FA7-62D20B695B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094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Layout">
  <p:cSld name="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13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1984249"/>
            <a:ext cx="10363200" cy="6771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2" y="3584451"/>
            <a:ext cx="8534399" cy="50783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91DDFFA4-C99A-4BD1-8500-7769614BDA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52897D0F-96A5-4F4A-A4BA-9968C1FC272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84C9E-6667-4223-BC0D-F10EBBF5BF69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627C08E1-40AE-4488-9ADA-6336ED19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30E04-CD92-4B7F-A237-BD362B9C4D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423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514" y="370421"/>
            <a:ext cx="11610975" cy="507831"/>
          </a:xfrm>
        </p:spPr>
        <p:txBody>
          <a:bodyPr/>
          <a:lstStyle>
            <a:lvl1pPr>
              <a:defRPr sz="33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3439" y="3151506"/>
            <a:ext cx="5445125" cy="353943"/>
          </a:xfrm>
        </p:spPr>
        <p:txBody>
          <a:bodyPr/>
          <a:lstStyle>
            <a:lvl1pPr>
              <a:defRPr sz="2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BC7554D-C54A-49ED-B166-C376E1330C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A31B6922-FF82-43AA-B341-438683DA6C3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5B23A-D5D9-4D13-8A39-A5EF1FA2A81F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3AB398A7-CBC1-4145-BC1F-AE052CBF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94C74-5880-4D6E-92FE-5C1B91C06C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362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k object 16">
            <a:extLst>
              <a:ext uri="{FF2B5EF4-FFF2-40B4-BE49-F238E27FC236}">
                <a16:creationId xmlns:a16="http://schemas.microsoft.com/office/drawing/2014/main" id="{D2A141A4-75D8-4C18-BA26-97C9B07CB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4008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endParaRPr lang="en-US" altLang="en-US"/>
          </a:p>
        </p:txBody>
      </p:sp>
      <p:sp>
        <p:nvSpPr>
          <p:cNvPr id="6" name="bk object 17">
            <a:extLst>
              <a:ext uri="{FF2B5EF4-FFF2-40B4-BE49-F238E27FC236}">
                <a16:creationId xmlns:a16="http://schemas.microsoft.com/office/drawing/2014/main" id="{451D40E1-A702-431E-BCEA-257B8B0593A6}"/>
              </a:ext>
            </a:extLst>
          </p:cNvPr>
          <p:cNvSpPr>
            <a:spLocks/>
          </p:cNvSpPr>
          <p:nvPr/>
        </p:nvSpPr>
        <p:spPr bwMode="auto">
          <a:xfrm>
            <a:off x="11283950" y="769938"/>
            <a:ext cx="769938" cy="4641850"/>
          </a:xfrm>
          <a:custGeom>
            <a:avLst/>
            <a:gdLst>
              <a:gd name="T0" fmla="*/ 0 w 769620"/>
              <a:gd name="T1" fmla="*/ 0 h 4971415"/>
              <a:gd name="T2" fmla="*/ 769937 w 769620"/>
              <a:gd name="T3" fmla="*/ 0 h 4971415"/>
              <a:gd name="T4" fmla="*/ 769937 w 769620"/>
              <a:gd name="T5" fmla="*/ 4641730 h 49714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9620" h="4971415">
                <a:moveTo>
                  <a:pt x="0" y="0"/>
                </a:moveTo>
                <a:lnTo>
                  <a:pt x="769619" y="0"/>
                </a:lnTo>
                <a:lnTo>
                  <a:pt x="769619" y="4971287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7" name="bk object 18">
            <a:extLst>
              <a:ext uri="{FF2B5EF4-FFF2-40B4-BE49-F238E27FC236}">
                <a16:creationId xmlns:a16="http://schemas.microsoft.com/office/drawing/2014/main" id="{F53AC685-BE9C-4204-AD44-D5DE45D421C5}"/>
              </a:ext>
            </a:extLst>
          </p:cNvPr>
          <p:cNvSpPr>
            <a:spLocks/>
          </p:cNvSpPr>
          <p:nvPr/>
        </p:nvSpPr>
        <p:spPr bwMode="auto">
          <a:xfrm>
            <a:off x="11114088" y="107950"/>
            <a:ext cx="1023937" cy="5994400"/>
          </a:xfrm>
          <a:custGeom>
            <a:avLst/>
            <a:gdLst>
              <a:gd name="T0" fmla="*/ 0 w 1024254"/>
              <a:gd name="T1" fmla="*/ 0 h 6422390"/>
              <a:gd name="T2" fmla="*/ 1023810 w 1024254"/>
              <a:gd name="T3" fmla="*/ 10554 h 6422390"/>
              <a:gd name="T4" fmla="*/ 1021282 w 1024254"/>
              <a:gd name="T5" fmla="*/ 2890996 h 6422390"/>
              <a:gd name="T6" fmla="*/ 715053 w 1024254"/>
              <a:gd name="T7" fmla="*/ 2906044 h 6422390"/>
              <a:gd name="T8" fmla="*/ 709963 w 1024254"/>
              <a:gd name="T9" fmla="*/ 5994162 h 6422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24254" h="6422390">
                <a:moveTo>
                  <a:pt x="0" y="0"/>
                </a:moveTo>
                <a:lnTo>
                  <a:pt x="1024127" y="11308"/>
                </a:lnTo>
                <a:lnTo>
                  <a:pt x="1021598" y="3097408"/>
                </a:lnTo>
                <a:lnTo>
                  <a:pt x="715274" y="3113531"/>
                </a:lnTo>
                <a:lnTo>
                  <a:pt x="710183" y="6422135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8" name="bk object 19">
            <a:extLst>
              <a:ext uri="{FF2B5EF4-FFF2-40B4-BE49-F238E27FC236}">
                <a16:creationId xmlns:a16="http://schemas.microsoft.com/office/drawing/2014/main" id="{A0666333-CBC2-4DFA-83B5-049F1D373B49}"/>
              </a:ext>
            </a:extLst>
          </p:cNvPr>
          <p:cNvSpPr>
            <a:spLocks/>
          </p:cNvSpPr>
          <p:nvPr/>
        </p:nvSpPr>
        <p:spPr bwMode="auto">
          <a:xfrm>
            <a:off x="11056938" y="5608638"/>
            <a:ext cx="944562" cy="792162"/>
          </a:xfrm>
          <a:custGeom>
            <a:avLst/>
            <a:gdLst>
              <a:gd name="T0" fmla="*/ 944562 w 944879"/>
              <a:gd name="T1" fmla="*/ 0 h 848995"/>
              <a:gd name="T2" fmla="*/ 1692 w 944879"/>
              <a:gd name="T3" fmla="*/ 792043 h 848995"/>
              <a:gd name="T4" fmla="*/ 327963 w 944879"/>
              <a:gd name="T5" fmla="*/ 792043 h 848995"/>
              <a:gd name="T6" fmla="*/ 944562 w 944879"/>
              <a:gd name="T7" fmla="*/ 274109 h 848995"/>
              <a:gd name="T8" fmla="*/ 944562 w 944879"/>
              <a:gd name="T9" fmla="*/ 0 h 8489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44879" h="848995">
                <a:moveTo>
                  <a:pt x="944879" y="0"/>
                </a:moveTo>
                <a:lnTo>
                  <a:pt x="1693" y="848867"/>
                </a:lnTo>
                <a:lnTo>
                  <a:pt x="328073" y="848867"/>
                </a:lnTo>
                <a:lnTo>
                  <a:pt x="944879" y="293775"/>
                </a:lnTo>
                <a:lnTo>
                  <a:pt x="944879" y="0"/>
                </a:lnTo>
              </a:path>
            </a:pathLst>
          </a:custGeom>
          <a:solidFill>
            <a:srgbClr val="3047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9" name="bk object 20">
            <a:extLst>
              <a:ext uri="{FF2B5EF4-FFF2-40B4-BE49-F238E27FC236}">
                <a16:creationId xmlns:a16="http://schemas.microsoft.com/office/drawing/2014/main" id="{F41E480F-5495-4829-A76B-801A405A3053}"/>
              </a:ext>
            </a:extLst>
          </p:cNvPr>
          <p:cNvSpPr>
            <a:spLocks/>
          </p:cNvSpPr>
          <p:nvPr/>
        </p:nvSpPr>
        <p:spPr bwMode="auto">
          <a:xfrm>
            <a:off x="11372850" y="4911725"/>
            <a:ext cx="819150" cy="1489075"/>
          </a:xfrm>
          <a:custGeom>
            <a:avLst/>
            <a:gdLst>
              <a:gd name="T0" fmla="*/ 818643 w 820420"/>
              <a:gd name="T1" fmla="*/ 1318 h 1595754"/>
              <a:gd name="T2" fmla="*/ 615625 w 820420"/>
              <a:gd name="T3" fmla="*/ 177176 h 1595754"/>
              <a:gd name="T4" fmla="*/ 615625 w 820420"/>
              <a:gd name="T5" fmla="*/ 971818 h 1595754"/>
              <a:gd name="T6" fmla="*/ 766 w 820420"/>
              <a:gd name="T7" fmla="*/ 1488956 h 1595754"/>
              <a:gd name="T8" fmla="*/ 818643 w 820420"/>
              <a:gd name="T9" fmla="*/ 1488956 h 1595754"/>
              <a:gd name="T10" fmla="*/ 818643 w 820420"/>
              <a:gd name="T11" fmla="*/ 1318 h 15957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0420" h="1595754">
                <a:moveTo>
                  <a:pt x="819912" y="1412"/>
                </a:moveTo>
                <a:lnTo>
                  <a:pt x="616579" y="189869"/>
                </a:lnTo>
                <a:lnTo>
                  <a:pt x="616579" y="1041440"/>
                </a:lnTo>
                <a:lnTo>
                  <a:pt x="767" y="1595627"/>
                </a:lnTo>
                <a:lnTo>
                  <a:pt x="819912" y="1595627"/>
                </a:lnTo>
                <a:lnTo>
                  <a:pt x="819912" y="1412"/>
                </a:lnTo>
              </a:path>
            </a:pathLst>
          </a:custGeom>
          <a:solidFill>
            <a:srgbClr val="9A24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" name="bk object 21">
            <a:extLst>
              <a:ext uri="{FF2B5EF4-FFF2-40B4-BE49-F238E27FC236}">
                <a16:creationId xmlns:a16="http://schemas.microsoft.com/office/drawing/2014/main" id="{01F4CC4B-5C72-401E-9454-CB5F322C1104}"/>
              </a:ext>
            </a:extLst>
          </p:cNvPr>
          <p:cNvSpPr>
            <a:spLocks/>
          </p:cNvSpPr>
          <p:nvPr/>
        </p:nvSpPr>
        <p:spPr bwMode="auto">
          <a:xfrm>
            <a:off x="11771313" y="5094288"/>
            <a:ext cx="219075" cy="709612"/>
          </a:xfrm>
          <a:custGeom>
            <a:avLst/>
            <a:gdLst>
              <a:gd name="T0" fmla="*/ 218840 w 218440"/>
              <a:gd name="T1" fmla="*/ 0 h 760729"/>
              <a:gd name="T2" fmla="*/ 0 w 218440"/>
              <a:gd name="T3" fmla="*/ 188739 h 760729"/>
              <a:gd name="T4" fmla="*/ 0 w 218440"/>
              <a:gd name="T5" fmla="*/ 709532 h 760729"/>
              <a:gd name="T6" fmla="*/ 218840 w 218440"/>
              <a:gd name="T7" fmla="*/ 526357 h 760729"/>
              <a:gd name="T8" fmla="*/ 218840 w 218440"/>
              <a:gd name="T9" fmla="*/ 0 h 7607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8440" h="760729">
                <a:moveTo>
                  <a:pt x="218206" y="0"/>
                </a:moveTo>
                <a:lnTo>
                  <a:pt x="0" y="202335"/>
                </a:lnTo>
                <a:lnTo>
                  <a:pt x="0" y="760643"/>
                </a:lnTo>
                <a:lnTo>
                  <a:pt x="218206" y="564273"/>
                </a:lnTo>
                <a:lnTo>
                  <a:pt x="218206" y="0"/>
                </a:lnTo>
                <a:close/>
              </a:path>
            </a:pathLst>
          </a:custGeom>
          <a:solidFill>
            <a:srgbClr val="D2CE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1" name="bk object 22">
            <a:extLst>
              <a:ext uri="{FF2B5EF4-FFF2-40B4-BE49-F238E27FC236}">
                <a16:creationId xmlns:a16="http://schemas.microsoft.com/office/drawing/2014/main" id="{811E8386-60C8-4C5E-97F1-474A8BAD10E1}"/>
              </a:ext>
            </a:extLst>
          </p:cNvPr>
          <p:cNvSpPr>
            <a:spLocks/>
          </p:cNvSpPr>
          <p:nvPr/>
        </p:nvSpPr>
        <p:spPr bwMode="auto">
          <a:xfrm>
            <a:off x="142875" y="984250"/>
            <a:ext cx="769938" cy="4640263"/>
          </a:xfrm>
          <a:custGeom>
            <a:avLst/>
            <a:gdLst>
              <a:gd name="T0" fmla="*/ 769938 w 769619"/>
              <a:gd name="T1" fmla="*/ 4640144 h 4971415"/>
              <a:gd name="T2" fmla="*/ 0 w 769619"/>
              <a:gd name="T3" fmla="*/ 4640144 h 4971415"/>
              <a:gd name="T4" fmla="*/ 0 w 769619"/>
              <a:gd name="T5" fmla="*/ 0 h 49714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9619" h="4971415">
                <a:moveTo>
                  <a:pt x="769619" y="4971287"/>
                </a:moveTo>
                <a:lnTo>
                  <a:pt x="0" y="4971287"/>
                </a:lnTo>
                <a:lnTo>
                  <a:pt x="0" y="0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2" name="bk object 23">
            <a:extLst>
              <a:ext uri="{FF2B5EF4-FFF2-40B4-BE49-F238E27FC236}">
                <a16:creationId xmlns:a16="http://schemas.microsoft.com/office/drawing/2014/main" id="{99EFCDBC-AB40-4DE9-9578-7E78D092593A}"/>
              </a:ext>
            </a:extLst>
          </p:cNvPr>
          <p:cNvSpPr>
            <a:spLocks/>
          </p:cNvSpPr>
          <p:nvPr/>
        </p:nvSpPr>
        <p:spPr bwMode="auto">
          <a:xfrm>
            <a:off x="57150" y="293688"/>
            <a:ext cx="1025525" cy="5992812"/>
          </a:xfrm>
          <a:custGeom>
            <a:avLst/>
            <a:gdLst>
              <a:gd name="T0" fmla="*/ 1025397 w 1024255"/>
              <a:gd name="T1" fmla="*/ 5992574 h 6422390"/>
              <a:gd name="T2" fmla="*/ 0 w 1024255"/>
              <a:gd name="T3" fmla="*/ 5981976 h 6422390"/>
              <a:gd name="T4" fmla="*/ 2550 w 1024255"/>
              <a:gd name="T5" fmla="*/ 3102344 h 6422390"/>
              <a:gd name="T6" fmla="*/ 309267 w 1024255"/>
              <a:gd name="T7" fmla="*/ 3087299 h 6422390"/>
              <a:gd name="T8" fmla="*/ 314296 w 1024255"/>
              <a:gd name="T9" fmla="*/ 0 h 6422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24255" h="6422390">
                <a:moveTo>
                  <a:pt x="1024127" y="6422135"/>
                </a:moveTo>
                <a:lnTo>
                  <a:pt x="0" y="6410777"/>
                </a:lnTo>
                <a:lnTo>
                  <a:pt x="2547" y="3324727"/>
                </a:lnTo>
                <a:lnTo>
                  <a:pt x="308884" y="3308603"/>
                </a:lnTo>
                <a:lnTo>
                  <a:pt x="313907" y="0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3" name="bk object 24">
            <a:extLst>
              <a:ext uri="{FF2B5EF4-FFF2-40B4-BE49-F238E27FC236}">
                <a16:creationId xmlns:a16="http://schemas.microsoft.com/office/drawing/2014/main" id="{608783DB-BC55-44D7-A03A-6ABBDBA50199}"/>
              </a:ext>
            </a:extLst>
          </p:cNvPr>
          <p:cNvSpPr>
            <a:spLocks/>
          </p:cNvSpPr>
          <p:nvPr/>
        </p:nvSpPr>
        <p:spPr bwMode="auto">
          <a:xfrm>
            <a:off x="195263" y="0"/>
            <a:ext cx="935037" cy="787400"/>
          </a:xfrm>
          <a:custGeom>
            <a:avLst/>
            <a:gdLst>
              <a:gd name="T0" fmla="*/ 608809 w 935355"/>
              <a:gd name="T1" fmla="*/ 0 h 843280"/>
              <a:gd name="T2" fmla="*/ 0 w 935355"/>
              <a:gd name="T3" fmla="*/ 512626 h 843280"/>
              <a:gd name="T4" fmla="*/ 0 w 935355"/>
              <a:gd name="T5" fmla="*/ 786926 h 843280"/>
              <a:gd name="T6" fmla="*/ 934585 w 935355"/>
              <a:gd name="T7" fmla="*/ 0 h 843280"/>
              <a:gd name="T8" fmla="*/ 608809 w 935355"/>
              <a:gd name="T9" fmla="*/ 0 h 843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35355" h="843280">
                <a:moveTo>
                  <a:pt x="609016" y="0"/>
                </a:moveTo>
                <a:lnTo>
                  <a:pt x="0" y="549006"/>
                </a:lnTo>
                <a:lnTo>
                  <a:pt x="0" y="842772"/>
                </a:lnTo>
                <a:lnTo>
                  <a:pt x="934903" y="0"/>
                </a:lnTo>
                <a:lnTo>
                  <a:pt x="609016" y="0"/>
                </a:lnTo>
              </a:path>
            </a:pathLst>
          </a:custGeom>
          <a:solidFill>
            <a:srgbClr val="3047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4" name="bk object 25">
            <a:extLst>
              <a:ext uri="{FF2B5EF4-FFF2-40B4-BE49-F238E27FC236}">
                <a16:creationId xmlns:a16="http://schemas.microsoft.com/office/drawing/2014/main" id="{D1F98774-91BA-4CD1-8A18-23BC0B2D0367}"/>
              </a:ext>
            </a:extLst>
          </p:cNvPr>
          <p:cNvSpPr>
            <a:spLocks/>
          </p:cNvSpPr>
          <p:nvPr/>
        </p:nvSpPr>
        <p:spPr bwMode="auto">
          <a:xfrm>
            <a:off x="3175" y="0"/>
            <a:ext cx="812800" cy="1484313"/>
          </a:xfrm>
          <a:custGeom>
            <a:avLst/>
            <a:gdLst>
              <a:gd name="T0" fmla="*/ 0 w 812800"/>
              <a:gd name="T1" fmla="*/ 0 h 1590040"/>
              <a:gd name="T2" fmla="*/ 0 w 812800"/>
              <a:gd name="T3" fmla="*/ 1483839 h 1590040"/>
              <a:gd name="T4" fmla="*/ 204454 w 812800"/>
              <a:gd name="T5" fmla="*/ 1306603 h 1590040"/>
              <a:gd name="T6" fmla="*/ 204454 w 812800"/>
              <a:gd name="T7" fmla="*/ 511676 h 1590040"/>
              <a:gd name="T8" fmla="*/ 812440 w 812800"/>
              <a:gd name="T9" fmla="*/ 0 h 1590040"/>
              <a:gd name="T10" fmla="*/ 0 w 812800"/>
              <a:gd name="T11" fmla="*/ 0 h 15900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2800" h="1590040">
                <a:moveTo>
                  <a:pt x="0" y="0"/>
                </a:moveTo>
                <a:lnTo>
                  <a:pt x="0" y="1589532"/>
                </a:lnTo>
                <a:lnTo>
                  <a:pt x="204454" y="1399672"/>
                </a:lnTo>
                <a:lnTo>
                  <a:pt x="204454" y="548122"/>
                </a:lnTo>
                <a:lnTo>
                  <a:pt x="812440" y="0"/>
                </a:lnTo>
                <a:lnTo>
                  <a:pt x="0" y="0"/>
                </a:lnTo>
              </a:path>
            </a:pathLst>
          </a:custGeom>
          <a:solidFill>
            <a:srgbClr val="9A24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5" name="bk object 26">
            <a:extLst>
              <a:ext uri="{FF2B5EF4-FFF2-40B4-BE49-F238E27FC236}">
                <a16:creationId xmlns:a16="http://schemas.microsoft.com/office/drawing/2014/main" id="{70558277-44A7-4911-9E4E-AB08EB90254F}"/>
              </a:ext>
            </a:extLst>
          </p:cNvPr>
          <p:cNvSpPr>
            <a:spLocks/>
          </p:cNvSpPr>
          <p:nvPr/>
        </p:nvSpPr>
        <p:spPr bwMode="auto">
          <a:xfrm>
            <a:off x="206375" y="592138"/>
            <a:ext cx="219075" cy="709612"/>
          </a:xfrm>
          <a:custGeom>
            <a:avLst/>
            <a:gdLst>
              <a:gd name="T0" fmla="*/ 218827 w 218440"/>
              <a:gd name="T1" fmla="*/ 0 h 760730"/>
              <a:gd name="T2" fmla="*/ 0 w 218440"/>
              <a:gd name="T3" fmla="*/ 183158 h 760730"/>
              <a:gd name="T4" fmla="*/ 0 w 218440"/>
              <a:gd name="T5" fmla="*/ 709517 h 760730"/>
              <a:gd name="T6" fmla="*/ 218827 w 218440"/>
              <a:gd name="T7" fmla="*/ 520786 h 760730"/>
              <a:gd name="T8" fmla="*/ 218827 w 218440"/>
              <a:gd name="T9" fmla="*/ 0 h 7607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8440" h="760730">
                <a:moveTo>
                  <a:pt x="218193" y="0"/>
                </a:moveTo>
                <a:lnTo>
                  <a:pt x="0" y="196352"/>
                </a:lnTo>
                <a:lnTo>
                  <a:pt x="0" y="760628"/>
                </a:lnTo>
                <a:lnTo>
                  <a:pt x="218193" y="558302"/>
                </a:lnTo>
                <a:lnTo>
                  <a:pt x="218193" y="0"/>
                </a:lnTo>
                <a:close/>
              </a:path>
            </a:pathLst>
          </a:custGeom>
          <a:solidFill>
            <a:srgbClr val="D2CE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514" y="370421"/>
            <a:ext cx="11610975" cy="507831"/>
          </a:xfrm>
        </p:spPr>
        <p:txBody>
          <a:bodyPr/>
          <a:lstStyle>
            <a:lvl1pPr>
              <a:defRPr sz="33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472187"/>
            <a:ext cx="5303520" cy="1015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472187"/>
            <a:ext cx="5303520" cy="1015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Holder 5">
            <a:extLst>
              <a:ext uri="{FF2B5EF4-FFF2-40B4-BE49-F238E27FC236}">
                <a16:creationId xmlns:a16="http://schemas.microsoft.com/office/drawing/2014/main" id="{10F37544-4102-4674-BCD4-C9DDDA3960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848ACB56-0789-4461-8600-C81FAE5165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B968DA-F965-40F1-9665-3D138CBEB78E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18" name="Holder 7">
            <a:extLst>
              <a:ext uri="{FF2B5EF4-FFF2-40B4-BE49-F238E27FC236}">
                <a16:creationId xmlns:a16="http://schemas.microsoft.com/office/drawing/2014/main" id="{3E1587C2-5C79-4D73-8EC4-0A4CDB20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855EE-D34C-44D1-8BE1-B8E2AD1B6F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479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514" y="370421"/>
            <a:ext cx="11610975" cy="507831"/>
          </a:xfrm>
        </p:spPr>
        <p:txBody>
          <a:bodyPr/>
          <a:lstStyle>
            <a:lvl1pPr>
              <a:defRPr sz="33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C68594F6-DC71-42B4-846A-FC46F0B27F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D5F8CD99-0961-4ACF-AE4D-64C0ABABF76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51FFC-30A9-4DF1-9FF5-748FBAC6FB76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A196895B-1718-48DA-81E0-2F30C98E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1DA3C-E55D-4F7E-8E20-E109214E98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730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>
            <a:extLst>
              <a:ext uri="{FF2B5EF4-FFF2-40B4-BE49-F238E27FC236}">
                <a16:creationId xmlns:a16="http://schemas.microsoft.com/office/drawing/2014/main" id="{96488951-49EE-41D9-8520-F1643A522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4008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endParaRPr lang="en-US" altLang="en-US"/>
          </a:p>
        </p:txBody>
      </p:sp>
      <p:sp>
        <p:nvSpPr>
          <p:cNvPr id="3" name="bk object 17">
            <a:extLst>
              <a:ext uri="{FF2B5EF4-FFF2-40B4-BE49-F238E27FC236}">
                <a16:creationId xmlns:a16="http://schemas.microsoft.com/office/drawing/2014/main" id="{4D31CCCB-54B1-4341-B329-558AC515AE68}"/>
              </a:ext>
            </a:extLst>
          </p:cNvPr>
          <p:cNvSpPr>
            <a:spLocks/>
          </p:cNvSpPr>
          <p:nvPr/>
        </p:nvSpPr>
        <p:spPr bwMode="auto">
          <a:xfrm>
            <a:off x="11283950" y="769938"/>
            <a:ext cx="769938" cy="4641850"/>
          </a:xfrm>
          <a:custGeom>
            <a:avLst/>
            <a:gdLst>
              <a:gd name="T0" fmla="*/ 0 w 769620"/>
              <a:gd name="T1" fmla="*/ 0 h 4971415"/>
              <a:gd name="T2" fmla="*/ 769937 w 769620"/>
              <a:gd name="T3" fmla="*/ 0 h 4971415"/>
              <a:gd name="T4" fmla="*/ 769937 w 769620"/>
              <a:gd name="T5" fmla="*/ 4641730 h 49714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9620" h="4971415">
                <a:moveTo>
                  <a:pt x="0" y="0"/>
                </a:moveTo>
                <a:lnTo>
                  <a:pt x="769619" y="0"/>
                </a:lnTo>
                <a:lnTo>
                  <a:pt x="769619" y="4971287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4" name="bk object 18">
            <a:extLst>
              <a:ext uri="{FF2B5EF4-FFF2-40B4-BE49-F238E27FC236}">
                <a16:creationId xmlns:a16="http://schemas.microsoft.com/office/drawing/2014/main" id="{482F5718-EC8A-4D35-B65E-99557EB781D5}"/>
              </a:ext>
            </a:extLst>
          </p:cNvPr>
          <p:cNvSpPr>
            <a:spLocks/>
          </p:cNvSpPr>
          <p:nvPr/>
        </p:nvSpPr>
        <p:spPr bwMode="auto">
          <a:xfrm>
            <a:off x="11114088" y="107950"/>
            <a:ext cx="1023937" cy="5994400"/>
          </a:xfrm>
          <a:custGeom>
            <a:avLst/>
            <a:gdLst>
              <a:gd name="T0" fmla="*/ 0 w 1024254"/>
              <a:gd name="T1" fmla="*/ 0 h 6422390"/>
              <a:gd name="T2" fmla="*/ 1023810 w 1024254"/>
              <a:gd name="T3" fmla="*/ 10554 h 6422390"/>
              <a:gd name="T4" fmla="*/ 1021282 w 1024254"/>
              <a:gd name="T5" fmla="*/ 2890996 h 6422390"/>
              <a:gd name="T6" fmla="*/ 715053 w 1024254"/>
              <a:gd name="T7" fmla="*/ 2906044 h 6422390"/>
              <a:gd name="T8" fmla="*/ 709963 w 1024254"/>
              <a:gd name="T9" fmla="*/ 5994162 h 6422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24254" h="6422390">
                <a:moveTo>
                  <a:pt x="0" y="0"/>
                </a:moveTo>
                <a:lnTo>
                  <a:pt x="1024127" y="11308"/>
                </a:lnTo>
                <a:lnTo>
                  <a:pt x="1021598" y="3097408"/>
                </a:lnTo>
                <a:lnTo>
                  <a:pt x="715274" y="3113531"/>
                </a:lnTo>
                <a:lnTo>
                  <a:pt x="710183" y="6422135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5" name="bk object 19">
            <a:extLst>
              <a:ext uri="{FF2B5EF4-FFF2-40B4-BE49-F238E27FC236}">
                <a16:creationId xmlns:a16="http://schemas.microsoft.com/office/drawing/2014/main" id="{84BA41A6-669A-46C1-9395-7A333EF24740}"/>
              </a:ext>
            </a:extLst>
          </p:cNvPr>
          <p:cNvSpPr>
            <a:spLocks/>
          </p:cNvSpPr>
          <p:nvPr/>
        </p:nvSpPr>
        <p:spPr bwMode="auto">
          <a:xfrm>
            <a:off x="11056938" y="5608638"/>
            <a:ext cx="944562" cy="792162"/>
          </a:xfrm>
          <a:custGeom>
            <a:avLst/>
            <a:gdLst>
              <a:gd name="T0" fmla="*/ 944562 w 944879"/>
              <a:gd name="T1" fmla="*/ 0 h 848995"/>
              <a:gd name="T2" fmla="*/ 1692 w 944879"/>
              <a:gd name="T3" fmla="*/ 792043 h 848995"/>
              <a:gd name="T4" fmla="*/ 327963 w 944879"/>
              <a:gd name="T5" fmla="*/ 792043 h 848995"/>
              <a:gd name="T6" fmla="*/ 944562 w 944879"/>
              <a:gd name="T7" fmla="*/ 274109 h 848995"/>
              <a:gd name="T8" fmla="*/ 944562 w 944879"/>
              <a:gd name="T9" fmla="*/ 0 h 8489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44879" h="848995">
                <a:moveTo>
                  <a:pt x="944879" y="0"/>
                </a:moveTo>
                <a:lnTo>
                  <a:pt x="1693" y="848867"/>
                </a:lnTo>
                <a:lnTo>
                  <a:pt x="328073" y="848867"/>
                </a:lnTo>
                <a:lnTo>
                  <a:pt x="944879" y="293775"/>
                </a:lnTo>
                <a:lnTo>
                  <a:pt x="944879" y="0"/>
                </a:lnTo>
              </a:path>
            </a:pathLst>
          </a:custGeom>
          <a:solidFill>
            <a:srgbClr val="3047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6" name="bk object 20">
            <a:extLst>
              <a:ext uri="{FF2B5EF4-FFF2-40B4-BE49-F238E27FC236}">
                <a16:creationId xmlns:a16="http://schemas.microsoft.com/office/drawing/2014/main" id="{B1FA2D6B-8FCC-4DDD-80F2-D0405C0DD065}"/>
              </a:ext>
            </a:extLst>
          </p:cNvPr>
          <p:cNvSpPr>
            <a:spLocks/>
          </p:cNvSpPr>
          <p:nvPr/>
        </p:nvSpPr>
        <p:spPr bwMode="auto">
          <a:xfrm>
            <a:off x="11372850" y="4911725"/>
            <a:ext cx="819150" cy="1489075"/>
          </a:xfrm>
          <a:custGeom>
            <a:avLst/>
            <a:gdLst>
              <a:gd name="T0" fmla="*/ 818643 w 820420"/>
              <a:gd name="T1" fmla="*/ 1318 h 1595754"/>
              <a:gd name="T2" fmla="*/ 615625 w 820420"/>
              <a:gd name="T3" fmla="*/ 177176 h 1595754"/>
              <a:gd name="T4" fmla="*/ 615625 w 820420"/>
              <a:gd name="T5" fmla="*/ 971818 h 1595754"/>
              <a:gd name="T6" fmla="*/ 766 w 820420"/>
              <a:gd name="T7" fmla="*/ 1488956 h 1595754"/>
              <a:gd name="T8" fmla="*/ 818643 w 820420"/>
              <a:gd name="T9" fmla="*/ 1488956 h 1595754"/>
              <a:gd name="T10" fmla="*/ 818643 w 820420"/>
              <a:gd name="T11" fmla="*/ 1318 h 15957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20420" h="1595754">
                <a:moveTo>
                  <a:pt x="819912" y="1412"/>
                </a:moveTo>
                <a:lnTo>
                  <a:pt x="616579" y="189869"/>
                </a:lnTo>
                <a:lnTo>
                  <a:pt x="616579" y="1041440"/>
                </a:lnTo>
                <a:lnTo>
                  <a:pt x="767" y="1595627"/>
                </a:lnTo>
                <a:lnTo>
                  <a:pt x="819912" y="1595627"/>
                </a:lnTo>
                <a:lnTo>
                  <a:pt x="819912" y="1412"/>
                </a:lnTo>
              </a:path>
            </a:pathLst>
          </a:custGeom>
          <a:solidFill>
            <a:srgbClr val="9A24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7" name="bk object 21">
            <a:extLst>
              <a:ext uri="{FF2B5EF4-FFF2-40B4-BE49-F238E27FC236}">
                <a16:creationId xmlns:a16="http://schemas.microsoft.com/office/drawing/2014/main" id="{DF3761D6-A16E-483E-9E9D-3B34D2F167E9}"/>
              </a:ext>
            </a:extLst>
          </p:cNvPr>
          <p:cNvSpPr>
            <a:spLocks/>
          </p:cNvSpPr>
          <p:nvPr/>
        </p:nvSpPr>
        <p:spPr bwMode="auto">
          <a:xfrm>
            <a:off x="11771313" y="5094288"/>
            <a:ext cx="219075" cy="709612"/>
          </a:xfrm>
          <a:custGeom>
            <a:avLst/>
            <a:gdLst>
              <a:gd name="T0" fmla="*/ 218840 w 218440"/>
              <a:gd name="T1" fmla="*/ 0 h 760729"/>
              <a:gd name="T2" fmla="*/ 0 w 218440"/>
              <a:gd name="T3" fmla="*/ 188739 h 760729"/>
              <a:gd name="T4" fmla="*/ 0 w 218440"/>
              <a:gd name="T5" fmla="*/ 709532 h 760729"/>
              <a:gd name="T6" fmla="*/ 218840 w 218440"/>
              <a:gd name="T7" fmla="*/ 526357 h 760729"/>
              <a:gd name="T8" fmla="*/ 218840 w 218440"/>
              <a:gd name="T9" fmla="*/ 0 h 7607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8440" h="760729">
                <a:moveTo>
                  <a:pt x="218206" y="0"/>
                </a:moveTo>
                <a:lnTo>
                  <a:pt x="0" y="202335"/>
                </a:lnTo>
                <a:lnTo>
                  <a:pt x="0" y="760643"/>
                </a:lnTo>
                <a:lnTo>
                  <a:pt x="218206" y="564273"/>
                </a:lnTo>
                <a:lnTo>
                  <a:pt x="218206" y="0"/>
                </a:lnTo>
                <a:close/>
              </a:path>
            </a:pathLst>
          </a:custGeom>
          <a:solidFill>
            <a:srgbClr val="D2CE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8" name="bk object 22">
            <a:extLst>
              <a:ext uri="{FF2B5EF4-FFF2-40B4-BE49-F238E27FC236}">
                <a16:creationId xmlns:a16="http://schemas.microsoft.com/office/drawing/2014/main" id="{ED6AA041-9706-4B0B-BB2A-A89CB400DB55}"/>
              </a:ext>
            </a:extLst>
          </p:cNvPr>
          <p:cNvSpPr>
            <a:spLocks/>
          </p:cNvSpPr>
          <p:nvPr/>
        </p:nvSpPr>
        <p:spPr bwMode="auto">
          <a:xfrm>
            <a:off x="142875" y="984250"/>
            <a:ext cx="769938" cy="4640263"/>
          </a:xfrm>
          <a:custGeom>
            <a:avLst/>
            <a:gdLst>
              <a:gd name="T0" fmla="*/ 769938 w 769619"/>
              <a:gd name="T1" fmla="*/ 4640144 h 4971415"/>
              <a:gd name="T2" fmla="*/ 0 w 769619"/>
              <a:gd name="T3" fmla="*/ 4640144 h 4971415"/>
              <a:gd name="T4" fmla="*/ 0 w 769619"/>
              <a:gd name="T5" fmla="*/ 0 h 497141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69619" h="4971415">
                <a:moveTo>
                  <a:pt x="769619" y="4971287"/>
                </a:moveTo>
                <a:lnTo>
                  <a:pt x="0" y="4971287"/>
                </a:lnTo>
                <a:lnTo>
                  <a:pt x="0" y="0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9" name="bk object 23">
            <a:extLst>
              <a:ext uri="{FF2B5EF4-FFF2-40B4-BE49-F238E27FC236}">
                <a16:creationId xmlns:a16="http://schemas.microsoft.com/office/drawing/2014/main" id="{8961F355-43CE-4094-AD3C-02C00618F25C}"/>
              </a:ext>
            </a:extLst>
          </p:cNvPr>
          <p:cNvSpPr>
            <a:spLocks/>
          </p:cNvSpPr>
          <p:nvPr/>
        </p:nvSpPr>
        <p:spPr bwMode="auto">
          <a:xfrm>
            <a:off x="57150" y="293688"/>
            <a:ext cx="1025525" cy="5992812"/>
          </a:xfrm>
          <a:custGeom>
            <a:avLst/>
            <a:gdLst>
              <a:gd name="T0" fmla="*/ 1025397 w 1024255"/>
              <a:gd name="T1" fmla="*/ 5992574 h 6422390"/>
              <a:gd name="T2" fmla="*/ 0 w 1024255"/>
              <a:gd name="T3" fmla="*/ 5981976 h 6422390"/>
              <a:gd name="T4" fmla="*/ 2550 w 1024255"/>
              <a:gd name="T5" fmla="*/ 3102344 h 6422390"/>
              <a:gd name="T6" fmla="*/ 309267 w 1024255"/>
              <a:gd name="T7" fmla="*/ 3087299 h 6422390"/>
              <a:gd name="T8" fmla="*/ 314296 w 1024255"/>
              <a:gd name="T9" fmla="*/ 0 h 64223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24255" h="6422390">
                <a:moveTo>
                  <a:pt x="1024127" y="6422135"/>
                </a:moveTo>
                <a:lnTo>
                  <a:pt x="0" y="6410777"/>
                </a:lnTo>
                <a:lnTo>
                  <a:pt x="2547" y="3324727"/>
                </a:lnTo>
                <a:lnTo>
                  <a:pt x="308884" y="3308603"/>
                </a:lnTo>
                <a:lnTo>
                  <a:pt x="313907" y="0"/>
                </a:lnTo>
              </a:path>
            </a:pathLst>
          </a:custGeom>
          <a:noFill/>
          <a:ln w="6349">
            <a:solidFill>
              <a:srgbClr val="D2CE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" name="bk object 24">
            <a:extLst>
              <a:ext uri="{FF2B5EF4-FFF2-40B4-BE49-F238E27FC236}">
                <a16:creationId xmlns:a16="http://schemas.microsoft.com/office/drawing/2014/main" id="{A2E67F98-4DA7-4827-BCE3-FB22F9DA3B57}"/>
              </a:ext>
            </a:extLst>
          </p:cNvPr>
          <p:cNvSpPr>
            <a:spLocks/>
          </p:cNvSpPr>
          <p:nvPr/>
        </p:nvSpPr>
        <p:spPr bwMode="auto">
          <a:xfrm>
            <a:off x="195263" y="0"/>
            <a:ext cx="935037" cy="787400"/>
          </a:xfrm>
          <a:custGeom>
            <a:avLst/>
            <a:gdLst>
              <a:gd name="T0" fmla="*/ 608809 w 935355"/>
              <a:gd name="T1" fmla="*/ 0 h 843280"/>
              <a:gd name="T2" fmla="*/ 0 w 935355"/>
              <a:gd name="T3" fmla="*/ 512626 h 843280"/>
              <a:gd name="T4" fmla="*/ 0 w 935355"/>
              <a:gd name="T5" fmla="*/ 786926 h 843280"/>
              <a:gd name="T6" fmla="*/ 934585 w 935355"/>
              <a:gd name="T7" fmla="*/ 0 h 843280"/>
              <a:gd name="T8" fmla="*/ 608809 w 935355"/>
              <a:gd name="T9" fmla="*/ 0 h 843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35355" h="843280">
                <a:moveTo>
                  <a:pt x="609016" y="0"/>
                </a:moveTo>
                <a:lnTo>
                  <a:pt x="0" y="549006"/>
                </a:lnTo>
                <a:lnTo>
                  <a:pt x="0" y="842772"/>
                </a:lnTo>
                <a:lnTo>
                  <a:pt x="934903" y="0"/>
                </a:lnTo>
                <a:lnTo>
                  <a:pt x="609016" y="0"/>
                </a:lnTo>
              </a:path>
            </a:pathLst>
          </a:custGeom>
          <a:solidFill>
            <a:srgbClr val="3047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1" name="bk object 25">
            <a:extLst>
              <a:ext uri="{FF2B5EF4-FFF2-40B4-BE49-F238E27FC236}">
                <a16:creationId xmlns:a16="http://schemas.microsoft.com/office/drawing/2014/main" id="{01C1CABB-FEB4-4BC0-BFF3-15D2E27161D2}"/>
              </a:ext>
            </a:extLst>
          </p:cNvPr>
          <p:cNvSpPr>
            <a:spLocks/>
          </p:cNvSpPr>
          <p:nvPr/>
        </p:nvSpPr>
        <p:spPr bwMode="auto">
          <a:xfrm>
            <a:off x="3175" y="0"/>
            <a:ext cx="812800" cy="1484313"/>
          </a:xfrm>
          <a:custGeom>
            <a:avLst/>
            <a:gdLst>
              <a:gd name="T0" fmla="*/ 0 w 812800"/>
              <a:gd name="T1" fmla="*/ 0 h 1590040"/>
              <a:gd name="T2" fmla="*/ 0 w 812800"/>
              <a:gd name="T3" fmla="*/ 1483839 h 1590040"/>
              <a:gd name="T4" fmla="*/ 204454 w 812800"/>
              <a:gd name="T5" fmla="*/ 1306603 h 1590040"/>
              <a:gd name="T6" fmla="*/ 204454 w 812800"/>
              <a:gd name="T7" fmla="*/ 511676 h 1590040"/>
              <a:gd name="T8" fmla="*/ 812440 w 812800"/>
              <a:gd name="T9" fmla="*/ 0 h 1590040"/>
              <a:gd name="T10" fmla="*/ 0 w 812800"/>
              <a:gd name="T11" fmla="*/ 0 h 15900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12800" h="1590040">
                <a:moveTo>
                  <a:pt x="0" y="0"/>
                </a:moveTo>
                <a:lnTo>
                  <a:pt x="0" y="1589532"/>
                </a:lnTo>
                <a:lnTo>
                  <a:pt x="204454" y="1399672"/>
                </a:lnTo>
                <a:lnTo>
                  <a:pt x="204454" y="548122"/>
                </a:lnTo>
                <a:lnTo>
                  <a:pt x="812440" y="0"/>
                </a:lnTo>
                <a:lnTo>
                  <a:pt x="0" y="0"/>
                </a:lnTo>
              </a:path>
            </a:pathLst>
          </a:custGeom>
          <a:solidFill>
            <a:srgbClr val="9A24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2" name="bk object 26">
            <a:extLst>
              <a:ext uri="{FF2B5EF4-FFF2-40B4-BE49-F238E27FC236}">
                <a16:creationId xmlns:a16="http://schemas.microsoft.com/office/drawing/2014/main" id="{6D72EB47-E780-4BCF-8098-149BA7EEEF7D}"/>
              </a:ext>
            </a:extLst>
          </p:cNvPr>
          <p:cNvSpPr>
            <a:spLocks/>
          </p:cNvSpPr>
          <p:nvPr/>
        </p:nvSpPr>
        <p:spPr bwMode="auto">
          <a:xfrm>
            <a:off x="206375" y="592138"/>
            <a:ext cx="219075" cy="709612"/>
          </a:xfrm>
          <a:custGeom>
            <a:avLst/>
            <a:gdLst>
              <a:gd name="T0" fmla="*/ 218827 w 218440"/>
              <a:gd name="T1" fmla="*/ 0 h 760730"/>
              <a:gd name="T2" fmla="*/ 0 w 218440"/>
              <a:gd name="T3" fmla="*/ 183158 h 760730"/>
              <a:gd name="T4" fmla="*/ 0 w 218440"/>
              <a:gd name="T5" fmla="*/ 709517 h 760730"/>
              <a:gd name="T6" fmla="*/ 218827 w 218440"/>
              <a:gd name="T7" fmla="*/ 520786 h 760730"/>
              <a:gd name="T8" fmla="*/ 218827 w 218440"/>
              <a:gd name="T9" fmla="*/ 0 h 7607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8440" h="760730">
                <a:moveTo>
                  <a:pt x="218193" y="0"/>
                </a:moveTo>
                <a:lnTo>
                  <a:pt x="0" y="196352"/>
                </a:lnTo>
                <a:lnTo>
                  <a:pt x="0" y="760628"/>
                </a:lnTo>
                <a:lnTo>
                  <a:pt x="218193" y="558302"/>
                </a:lnTo>
                <a:lnTo>
                  <a:pt x="218193" y="0"/>
                </a:lnTo>
                <a:close/>
              </a:path>
            </a:pathLst>
          </a:custGeom>
          <a:solidFill>
            <a:srgbClr val="D2CEC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3" name="bk object 27">
            <a:extLst>
              <a:ext uri="{FF2B5EF4-FFF2-40B4-BE49-F238E27FC236}">
                <a16:creationId xmlns:a16="http://schemas.microsoft.com/office/drawing/2014/main" id="{03127149-74BF-4DEA-A75E-F480E65D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2073275"/>
            <a:ext cx="2579687" cy="24050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endParaRPr lang="en-US" altLang="en-US"/>
          </a:p>
        </p:txBody>
      </p:sp>
      <p:sp>
        <p:nvSpPr>
          <p:cNvPr id="14" name="bk object 28">
            <a:extLst>
              <a:ext uri="{FF2B5EF4-FFF2-40B4-BE49-F238E27FC236}">
                <a16:creationId xmlns:a16="http://schemas.microsoft.com/office/drawing/2014/main" id="{107070F9-AE0E-4C0A-ACA4-A14DC8B5D26B}"/>
              </a:ext>
            </a:extLst>
          </p:cNvPr>
          <p:cNvSpPr>
            <a:spLocks/>
          </p:cNvSpPr>
          <p:nvPr/>
        </p:nvSpPr>
        <p:spPr bwMode="auto">
          <a:xfrm>
            <a:off x="3181350" y="1946275"/>
            <a:ext cx="2844800" cy="2657475"/>
          </a:xfrm>
          <a:custGeom>
            <a:avLst/>
            <a:gdLst>
              <a:gd name="T0" fmla="*/ 4714 w 2845435"/>
              <a:gd name="T1" fmla="*/ 1219701 h 2845435"/>
              <a:gd name="T2" fmla="*/ 41335 w 2845435"/>
              <a:gd name="T3" fmla="*/ 1009370 h 2845435"/>
              <a:gd name="T4" fmla="*/ 111769 w 2845435"/>
              <a:gd name="T5" fmla="*/ 811483 h 2845435"/>
              <a:gd name="T6" fmla="*/ 213090 w 2845435"/>
              <a:gd name="T7" fmla="*/ 628773 h 2845435"/>
              <a:gd name="T8" fmla="*/ 342370 w 2845435"/>
              <a:gd name="T9" fmla="*/ 463976 h 2845435"/>
              <a:gd name="T10" fmla="*/ 496681 w 2845435"/>
              <a:gd name="T11" fmla="*/ 319825 h 2845435"/>
              <a:gd name="T12" fmla="*/ 673095 w 2845435"/>
              <a:gd name="T13" fmla="*/ 199059 h 2845435"/>
              <a:gd name="T14" fmla="*/ 868684 w 2845435"/>
              <a:gd name="T15" fmla="*/ 104409 h 2845435"/>
              <a:gd name="T16" fmla="*/ 1080521 w 2845435"/>
              <a:gd name="T17" fmla="*/ 38613 h 2845435"/>
              <a:gd name="T18" fmla="*/ 1305678 w 2845435"/>
              <a:gd name="T19" fmla="*/ 4404 h 2845435"/>
              <a:gd name="T20" fmla="*/ 1538994 w 2845435"/>
              <a:gd name="T21" fmla="*/ 4404 h 2845435"/>
              <a:gd name="T22" fmla="*/ 1764151 w 2845435"/>
              <a:gd name="T23" fmla="*/ 38613 h 2845435"/>
              <a:gd name="T24" fmla="*/ 1975988 w 2845435"/>
              <a:gd name="T25" fmla="*/ 104409 h 2845435"/>
              <a:gd name="T26" fmla="*/ 2171577 w 2845435"/>
              <a:gd name="T27" fmla="*/ 199059 h 2845435"/>
              <a:gd name="T28" fmla="*/ 2347991 w 2845435"/>
              <a:gd name="T29" fmla="*/ 319825 h 2845435"/>
              <a:gd name="T30" fmla="*/ 2502302 w 2845435"/>
              <a:gd name="T31" fmla="*/ 463976 h 2845435"/>
              <a:gd name="T32" fmla="*/ 2631582 w 2845435"/>
              <a:gd name="T33" fmla="*/ 628773 h 2845435"/>
              <a:gd name="T34" fmla="*/ 2732903 w 2845435"/>
              <a:gd name="T35" fmla="*/ 811483 h 2845435"/>
              <a:gd name="T36" fmla="*/ 2803337 w 2845435"/>
              <a:gd name="T37" fmla="*/ 1009370 h 2845435"/>
              <a:gd name="T38" fmla="*/ 2839958 w 2845435"/>
              <a:gd name="T39" fmla="*/ 1219701 h 2845435"/>
              <a:gd name="T40" fmla="*/ 2839958 w 2845435"/>
              <a:gd name="T41" fmla="*/ 1437655 h 2845435"/>
              <a:gd name="T42" fmla="*/ 2803337 w 2845435"/>
              <a:gd name="T43" fmla="*/ 1647988 h 2845435"/>
              <a:gd name="T44" fmla="*/ 2732903 w 2845435"/>
              <a:gd name="T45" fmla="*/ 1845876 h 2845435"/>
              <a:gd name="T46" fmla="*/ 2631582 w 2845435"/>
              <a:gd name="T47" fmla="*/ 2028587 h 2845435"/>
              <a:gd name="T48" fmla="*/ 2502302 w 2845435"/>
              <a:gd name="T49" fmla="*/ 2193384 h 2845435"/>
              <a:gd name="T50" fmla="*/ 2347991 w 2845435"/>
              <a:gd name="T51" fmla="*/ 2337533 h 2845435"/>
              <a:gd name="T52" fmla="*/ 2171577 w 2845435"/>
              <a:gd name="T53" fmla="*/ 2458299 h 2845435"/>
              <a:gd name="T54" fmla="*/ 1975988 w 2845435"/>
              <a:gd name="T55" fmla="*/ 2552947 h 2845435"/>
              <a:gd name="T56" fmla="*/ 1764151 w 2845435"/>
              <a:gd name="T57" fmla="*/ 2618743 h 2845435"/>
              <a:gd name="T58" fmla="*/ 1538994 w 2845435"/>
              <a:gd name="T59" fmla="*/ 2652952 h 2845435"/>
              <a:gd name="T60" fmla="*/ 1305678 w 2845435"/>
              <a:gd name="T61" fmla="*/ 2652952 h 2845435"/>
              <a:gd name="T62" fmla="*/ 1080521 w 2845435"/>
              <a:gd name="T63" fmla="*/ 2618743 h 2845435"/>
              <a:gd name="T64" fmla="*/ 868684 w 2845435"/>
              <a:gd name="T65" fmla="*/ 2552947 h 2845435"/>
              <a:gd name="T66" fmla="*/ 673095 w 2845435"/>
              <a:gd name="T67" fmla="*/ 2458299 h 2845435"/>
              <a:gd name="T68" fmla="*/ 496681 w 2845435"/>
              <a:gd name="T69" fmla="*/ 2337533 h 2845435"/>
              <a:gd name="T70" fmla="*/ 342370 w 2845435"/>
              <a:gd name="T71" fmla="*/ 2193384 h 2845435"/>
              <a:gd name="T72" fmla="*/ 213090 w 2845435"/>
              <a:gd name="T73" fmla="*/ 2028587 h 2845435"/>
              <a:gd name="T74" fmla="*/ 111769 w 2845435"/>
              <a:gd name="T75" fmla="*/ 1845876 h 2845435"/>
              <a:gd name="T76" fmla="*/ 41335 w 2845435"/>
              <a:gd name="T77" fmla="*/ 1647988 h 2845435"/>
              <a:gd name="T78" fmla="*/ 4714 w 2845435"/>
              <a:gd name="T79" fmla="*/ 1437655 h 2845435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2845435" h="2845435">
                <a:moveTo>
                  <a:pt x="0" y="1422653"/>
                </a:moveTo>
                <a:lnTo>
                  <a:pt x="4715" y="1305969"/>
                </a:lnTo>
                <a:lnTo>
                  <a:pt x="18619" y="1191883"/>
                </a:lnTo>
                <a:lnTo>
                  <a:pt x="41344" y="1080762"/>
                </a:lnTo>
                <a:lnTo>
                  <a:pt x="72524" y="972972"/>
                </a:lnTo>
                <a:lnTo>
                  <a:pt x="111794" y="868878"/>
                </a:lnTo>
                <a:lnTo>
                  <a:pt x="158787" y="768847"/>
                </a:lnTo>
                <a:lnTo>
                  <a:pt x="213138" y="673245"/>
                </a:lnTo>
                <a:lnTo>
                  <a:pt x="274479" y="582438"/>
                </a:lnTo>
                <a:lnTo>
                  <a:pt x="342446" y="496792"/>
                </a:lnTo>
                <a:lnTo>
                  <a:pt x="416673" y="416673"/>
                </a:lnTo>
                <a:lnTo>
                  <a:pt x="496792" y="342446"/>
                </a:lnTo>
                <a:lnTo>
                  <a:pt x="582438" y="274479"/>
                </a:lnTo>
                <a:lnTo>
                  <a:pt x="673245" y="213138"/>
                </a:lnTo>
                <a:lnTo>
                  <a:pt x="768847" y="158787"/>
                </a:lnTo>
                <a:lnTo>
                  <a:pt x="868878" y="111794"/>
                </a:lnTo>
                <a:lnTo>
                  <a:pt x="972972" y="72524"/>
                </a:lnTo>
                <a:lnTo>
                  <a:pt x="1080762" y="41344"/>
                </a:lnTo>
                <a:lnTo>
                  <a:pt x="1191883" y="18619"/>
                </a:lnTo>
                <a:lnTo>
                  <a:pt x="1305969" y="4715"/>
                </a:lnTo>
                <a:lnTo>
                  <a:pt x="1422653" y="0"/>
                </a:lnTo>
                <a:lnTo>
                  <a:pt x="1539338" y="4715"/>
                </a:lnTo>
                <a:lnTo>
                  <a:pt x="1653424" y="18619"/>
                </a:lnTo>
                <a:lnTo>
                  <a:pt x="1764545" y="41344"/>
                </a:lnTo>
                <a:lnTo>
                  <a:pt x="1872335" y="72524"/>
                </a:lnTo>
                <a:lnTo>
                  <a:pt x="1976429" y="111794"/>
                </a:lnTo>
                <a:lnTo>
                  <a:pt x="2076460" y="158787"/>
                </a:lnTo>
                <a:lnTo>
                  <a:pt x="2172062" y="213138"/>
                </a:lnTo>
                <a:lnTo>
                  <a:pt x="2262869" y="274479"/>
                </a:lnTo>
                <a:lnTo>
                  <a:pt x="2348515" y="342446"/>
                </a:lnTo>
                <a:lnTo>
                  <a:pt x="2428634" y="416673"/>
                </a:lnTo>
                <a:lnTo>
                  <a:pt x="2502861" y="496792"/>
                </a:lnTo>
                <a:lnTo>
                  <a:pt x="2570827" y="582438"/>
                </a:lnTo>
                <a:lnTo>
                  <a:pt x="2632169" y="673245"/>
                </a:lnTo>
                <a:lnTo>
                  <a:pt x="2686520" y="768847"/>
                </a:lnTo>
                <a:lnTo>
                  <a:pt x="2733513" y="868878"/>
                </a:lnTo>
                <a:lnTo>
                  <a:pt x="2772783" y="972972"/>
                </a:lnTo>
                <a:lnTo>
                  <a:pt x="2803963" y="1080762"/>
                </a:lnTo>
                <a:lnTo>
                  <a:pt x="2826688" y="1191883"/>
                </a:lnTo>
                <a:lnTo>
                  <a:pt x="2840592" y="1305969"/>
                </a:lnTo>
                <a:lnTo>
                  <a:pt x="2845307" y="1422653"/>
                </a:lnTo>
                <a:lnTo>
                  <a:pt x="2840592" y="1539339"/>
                </a:lnTo>
                <a:lnTo>
                  <a:pt x="2826688" y="1653426"/>
                </a:lnTo>
                <a:lnTo>
                  <a:pt x="2803963" y="1764548"/>
                </a:lnTo>
                <a:lnTo>
                  <a:pt x="2772783" y="1872339"/>
                </a:lnTo>
                <a:lnTo>
                  <a:pt x="2733513" y="1976433"/>
                </a:lnTo>
                <a:lnTo>
                  <a:pt x="2686520" y="2076464"/>
                </a:lnTo>
                <a:lnTo>
                  <a:pt x="2632169" y="2172066"/>
                </a:lnTo>
                <a:lnTo>
                  <a:pt x="2570827" y="2262873"/>
                </a:lnTo>
                <a:lnTo>
                  <a:pt x="2502861" y="2348519"/>
                </a:lnTo>
                <a:lnTo>
                  <a:pt x="2428634" y="2428638"/>
                </a:lnTo>
                <a:lnTo>
                  <a:pt x="2348515" y="2502864"/>
                </a:lnTo>
                <a:lnTo>
                  <a:pt x="2262869" y="2570830"/>
                </a:lnTo>
                <a:lnTo>
                  <a:pt x="2172062" y="2632171"/>
                </a:lnTo>
                <a:lnTo>
                  <a:pt x="2076460" y="2686522"/>
                </a:lnTo>
                <a:lnTo>
                  <a:pt x="1976429" y="2733514"/>
                </a:lnTo>
                <a:lnTo>
                  <a:pt x="1872335" y="2772784"/>
                </a:lnTo>
                <a:lnTo>
                  <a:pt x="1764545" y="2803964"/>
                </a:lnTo>
                <a:lnTo>
                  <a:pt x="1653424" y="2826688"/>
                </a:lnTo>
                <a:lnTo>
                  <a:pt x="1539338" y="2840592"/>
                </a:lnTo>
                <a:lnTo>
                  <a:pt x="1422653" y="2845307"/>
                </a:lnTo>
                <a:lnTo>
                  <a:pt x="1305969" y="2840592"/>
                </a:lnTo>
                <a:lnTo>
                  <a:pt x="1191883" y="2826688"/>
                </a:lnTo>
                <a:lnTo>
                  <a:pt x="1080762" y="2803964"/>
                </a:lnTo>
                <a:lnTo>
                  <a:pt x="972972" y="2772784"/>
                </a:lnTo>
                <a:lnTo>
                  <a:pt x="868878" y="2733514"/>
                </a:lnTo>
                <a:lnTo>
                  <a:pt x="768847" y="2686522"/>
                </a:lnTo>
                <a:lnTo>
                  <a:pt x="673245" y="2632171"/>
                </a:lnTo>
                <a:lnTo>
                  <a:pt x="582438" y="2570830"/>
                </a:lnTo>
                <a:lnTo>
                  <a:pt x="496792" y="2502864"/>
                </a:lnTo>
                <a:lnTo>
                  <a:pt x="416673" y="2428638"/>
                </a:lnTo>
                <a:lnTo>
                  <a:pt x="342446" y="2348519"/>
                </a:lnTo>
                <a:lnTo>
                  <a:pt x="274479" y="2262873"/>
                </a:lnTo>
                <a:lnTo>
                  <a:pt x="213138" y="2172066"/>
                </a:lnTo>
                <a:lnTo>
                  <a:pt x="158787" y="2076464"/>
                </a:lnTo>
                <a:lnTo>
                  <a:pt x="111794" y="1976433"/>
                </a:lnTo>
                <a:lnTo>
                  <a:pt x="72524" y="1872339"/>
                </a:lnTo>
                <a:lnTo>
                  <a:pt x="41344" y="1764548"/>
                </a:lnTo>
                <a:lnTo>
                  <a:pt x="18619" y="1653426"/>
                </a:lnTo>
                <a:lnTo>
                  <a:pt x="4715" y="1539339"/>
                </a:lnTo>
                <a:lnTo>
                  <a:pt x="0" y="1422653"/>
                </a:lnTo>
                <a:close/>
              </a:path>
            </a:pathLst>
          </a:custGeom>
          <a:noFill/>
          <a:ln w="12700">
            <a:solidFill>
              <a:srgbClr val="9A24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5" name="bk object 29">
            <a:extLst>
              <a:ext uri="{FF2B5EF4-FFF2-40B4-BE49-F238E27FC236}">
                <a16:creationId xmlns:a16="http://schemas.microsoft.com/office/drawing/2014/main" id="{FCEC21D6-4C54-487E-8B6F-632CE95628C5}"/>
              </a:ext>
            </a:extLst>
          </p:cNvPr>
          <p:cNvSpPr>
            <a:spLocks/>
          </p:cNvSpPr>
          <p:nvPr/>
        </p:nvSpPr>
        <p:spPr bwMode="auto">
          <a:xfrm>
            <a:off x="506413" y="2590800"/>
            <a:ext cx="3519487" cy="1571625"/>
          </a:xfrm>
          <a:custGeom>
            <a:avLst/>
            <a:gdLst>
              <a:gd name="T0" fmla="*/ 3510224 w 3520440"/>
              <a:gd name="T1" fmla="*/ 1331784 h 1682750"/>
              <a:gd name="T2" fmla="*/ 2994489 w 3520440"/>
              <a:gd name="T3" fmla="*/ 1331784 h 1682750"/>
              <a:gd name="T4" fmla="*/ 3016008 w 3520440"/>
              <a:gd name="T5" fmla="*/ 1366147 h 1682750"/>
              <a:gd name="T6" fmla="*/ 3038283 w 3520440"/>
              <a:gd name="T7" fmla="*/ 1395065 h 1682750"/>
              <a:gd name="T8" fmla="*/ 3061449 w 3520440"/>
              <a:gd name="T9" fmla="*/ 1423358 h 1682750"/>
              <a:gd name="T10" fmla="*/ 3085491 w 3520440"/>
              <a:gd name="T11" fmla="*/ 1451007 h 1682750"/>
              <a:gd name="T12" fmla="*/ 3110391 w 3520440"/>
              <a:gd name="T13" fmla="*/ 1477994 h 1682750"/>
              <a:gd name="T14" fmla="*/ 3136134 w 3520440"/>
              <a:gd name="T15" fmla="*/ 1504302 h 1682750"/>
              <a:gd name="T16" fmla="*/ 3162705 w 3520440"/>
              <a:gd name="T17" fmla="*/ 1529914 h 1682750"/>
              <a:gd name="T18" fmla="*/ 3215409 w 3520440"/>
              <a:gd name="T19" fmla="*/ 1571387 h 1682750"/>
              <a:gd name="T20" fmla="*/ 3510224 w 3520440"/>
              <a:gd name="T21" fmla="*/ 1331784 h 1682750"/>
              <a:gd name="T22" fmla="*/ 1781704 w 3520440"/>
              <a:gd name="T23" fmla="*/ 0 h 1682750"/>
              <a:gd name="T24" fmla="*/ 862730 w 3520440"/>
              <a:gd name="T25" fmla="*/ 0 h 1682750"/>
              <a:gd name="T26" fmla="*/ 862730 w 3520440"/>
              <a:gd name="T27" fmla="*/ 2248 h 1682750"/>
              <a:gd name="T28" fmla="*/ 0 w 3520440"/>
              <a:gd name="T29" fmla="*/ 2248 h 1682750"/>
              <a:gd name="T30" fmla="*/ 0 w 3520440"/>
              <a:gd name="T31" fmla="*/ 1328704 h 1682750"/>
              <a:gd name="T32" fmla="*/ 862730 w 3520440"/>
              <a:gd name="T33" fmla="*/ 1328704 h 1682750"/>
              <a:gd name="T34" fmla="*/ 862730 w 3520440"/>
              <a:gd name="T35" fmla="*/ 1333098 h 1682750"/>
              <a:gd name="T36" fmla="*/ 1781704 w 3520440"/>
              <a:gd name="T37" fmla="*/ 1333098 h 1682750"/>
              <a:gd name="T38" fmla="*/ 1781704 w 3520440"/>
              <a:gd name="T39" fmla="*/ 1331784 h 1682750"/>
              <a:gd name="T40" fmla="*/ 3519486 w 3520440"/>
              <a:gd name="T41" fmla="*/ 1331784 h 1682750"/>
              <a:gd name="T42" fmla="*/ 3103547 w 3520440"/>
              <a:gd name="T43" fmla="*/ 2846 h 1682750"/>
              <a:gd name="T44" fmla="*/ 1781704 w 3520440"/>
              <a:gd name="T45" fmla="*/ 2846 h 1682750"/>
              <a:gd name="T46" fmla="*/ 1781704 w 3520440"/>
              <a:gd name="T47" fmla="*/ 0 h 168275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3520440" h="1682750">
                <a:moveTo>
                  <a:pt x="3511174" y="1425951"/>
                </a:moveTo>
                <a:lnTo>
                  <a:pt x="2995300" y="1425951"/>
                </a:lnTo>
                <a:lnTo>
                  <a:pt x="3016825" y="1462743"/>
                </a:lnTo>
                <a:lnTo>
                  <a:pt x="3039106" y="1493706"/>
                </a:lnTo>
                <a:lnTo>
                  <a:pt x="3062278" y="1523999"/>
                </a:lnTo>
                <a:lnTo>
                  <a:pt x="3086326" y="1553603"/>
                </a:lnTo>
                <a:lnTo>
                  <a:pt x="3111233" y="1582499"/>
                </a:lnTo>
                <a:lnTo>
                  <a:pt x="3136983" y="1610667"/>
                </a:lnTo>
                <a:lnTo>
                  <a:pt x="3163561" y="1638090"/>
                </a:lnTo>
                <a:lnTo>
                  <a:pt x="3216280" y="1682495"/>
                </a:lnTo>
                <a:lnTo>
                  <a:pt x="3511174" y="1425951"/>
                </a:lnTo>
                <a:close/>
              </a:path>
              <a:path w="3520440" h="1682750">
                <a:moveTo>
                  <a:pt x="1782186" y="0"/>
                </a:moveTo>
                <a:lnTo>
                  <a:pt x="862964" y="0"/>
                </a:lnTo>
                <a:lnTo>
                  <a:pt x="862964" y="2407"/>
                </a:lnTo>
                <a:lnTo>
                  <a:pt x="0" y="2407"/>
                </a:lnTo>
                <a:lnTo>
                  <a:pt x="0" y="1422653"/>
                </a:lnTo>
                <a:lnTo>
                  <a:pt x="862964" y="1422653"/>
                </a:lnTo>
                <a:lnTo>
                  <a:pt x="862964" y="1427357"/>
                </a:lnTo>
                <a:lnTo>
                  <a:pt x="1782186" y="1427357"/>
                </a:lnTo>
                <a:lnTo>
                  <a:pt x="1782186" y="1425951"/>
                </a:lnTo>
                <a:lnTo>
                  <a:pt x="3520439" y="1425951"/>
                </a:lnTo>
                <a:lnTo>
                  <a:pt x="3104387" y="3047"/>
                </a:lnTo>
                <a:lnTo>
                  <a:pt x="1782186" y="3047"/>
                </a:lnTo>
                <a:lnTo>
                  <a:pt x="1782186" y="0"/>
                </a:lnTo>
                <a:close/>
              </a:path>
            </a:pathLst>
          </a:custGeom>
          <a:solidFill>
            <a:srgbClr val="9A241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6" name="bk object 30">
            <a:extLst>
              <a:ext uri="{FF2B5EF4-FFF2-40B4-BE49-F238E27FC236}">
                <a16:creationId xmlns:a16="http://schemas.microsoft.com/office/drawing/2014/main" id="{4DD64953-B605-4C66-8882-C715CFAE2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1676400"/>
            <a:ext cx="1182688" cy="361315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endParaRPr lang="en-US" altLang="en-US"/>
          </a:p>
        </p:txBody>
      </p:sp>
      <p:sp>
        <p:nvSpPr>
          <p:cNvPr id="17" name="bk object 31">
            <a:extLst>
              <a:ext uri="{FF2B5EF4-FFF2-40B4-BE49-F238E27FC236}">
                <a16:creationId xmlns:a16="http://schemas.microsoft.com/office/drawing/2014/main" id="{C9F19A55-E903-463F-9F58-4FAC8848F52C}"/>
              </a:ext>
            </a:extLst>
          </p:cNvPr>
          <p:cNvSpPr>
            <a:spLocks/>
          </p:cNvSpPr>
          <p:nvPr/>
        </p:nvSpPr>
        <p:spPr bwMode="auto">
          <a:xfrm>
            <a:off x="3332163" y="1700213"/>
            <a:ext cx="1073150" cy="3514725"/>
          </a:xfrm>
          <a:custGeom>
            <a:avLst/>
            <a:gdLst>
              <a:gd name="T0" fmla="*/ 0 w 1074420"/>
              <a:gd name="T1" fmla="*/ 0 h 3765550"/>
              <a:gd name="T2" fmla="*/ 1073149 w 1074420"/>
              <a:gd name="T3" fmla="*/ 3514651 h 376555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074420" h="3765550">
                <a:moveTo>
                  <a:pt x="0" y="0"/>
                </a:moveTo>
                <a:lnTo>
                  <a:pt x="1074419" y="3765471"/>
                </a:lnTo>
              </a:path>
            </a:pathLst>
          </a:custGeom>
          <a:noFill/>
          <a:ln w="6349">
            <a:solidFill>
              <a:srgbClr val="9A24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8" name="Holder 2">
            <a:extLst>
              <a:ext uri="{FF2B5EF4-FFF2-40B4-BE49-F238E27FC236}">
                <a16:creationId xmlns:a16="http://schemas.microsoft.com/office/drawing/2014/main" id="{787CEB52-E7F5-4CA9-AA33-60A7340A32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19" name="Holder 3">
            <a:extLst>
              <a:ext uri="{FF2B5EF4-FFF2-40B4-BE49-F238E27FC236}">
                <a16:creationId xmlns:a16="http://schemas.microsoft.com/office/drawing/2014/main" id="{D8C4E0E7-773F-4D5D-8CDA-85715366FAA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1385D41-DCEC-4284-A6DF-1BF8D16DB1DD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20" name="Holder 4">
            <a:extLst>
              <a:ext uri="{FF2B5EF4-FFF2-40B4-BE49-F238E27FC236}">
                <a16:creationId xmlns:a16="http://schemas.microsoft.com/office/drawing/2014/main" id="{5BB1FB06-0158-43F2-804D-E0E4BA01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8DA5D-89E3-4040-AD58-150657F85A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1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E699">
            <a:alpha val="4705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B4CB087-F289-4318-9A3E-95D5080A96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41313"/>
            <a:ext cx="10515600" cy="123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039C448-A7E8-407F-9957-EC013F62EA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703388"/>
            <a:ext cx="105156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50EAD-1DDF-4F70-B532-FAEFF20F2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932488"/>
            <a:ext cx="2743200" cy="341312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BB8D18F-5E49-4D59-8C7F-9A55FD265DF3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A4BA8-0990-4241-8748-39E9B7C33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5932488"/>
            <a:ext cx="4114800" cy="341312"/>
          </a:xfrm>
          <a:prstGeom prst="rect">
            <a:avLst/>
          </a:prstGeom>
        </p:spPr>
        <p:txBody>
          <a:bodyPr vert="horz" lIns="91432" tIns="45716" rIns="91432" bIns="45716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70950-0085-4B13-B7B0-21190C017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932488"/>
            <a:ext cx="2743200" cy="341312"/>
          </a:xfrm>
          <a:prstGeom prst="rect">
            <a:avLst/>
          </a:prstGeom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E89A72D-B186-424F-AF74-A5F3F79D25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  <p:sldLayoutId id="2147484257" r:id="rId12"/>
    <p:sldLayoutId id="2147484258" r:id="rId1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1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32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48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65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7013" indent="-227013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4213" indent="-227013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7" indent="-228581" algn="l" defTabSz="9143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9" indent="-228581" algn="l" defTabSz="9143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2" indent="-228581" algn="l" defTabSz="9143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85" indent="-228581" algn="l" defTabSz="9143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6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8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2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4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8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0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4" algn="l" defTabSz="91432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1DA">
            <a:alpha val="4705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bk object 16">
            <a:extLst>
              <a:ext uri="{FF2B5EF4-FFF2-40B4-BE49-F238E27FC236}">
                <a16:creationId xmlns:a16="http://schemas.microsoft.com/office/drawing/2014/main" id="{4EA1595D-457D-4E16-9438-076AD58BB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40080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endParaRPr lang="en-US" altLang="en-US"/>
          </a:p>
        </p:txBody>
      </p:sp>
      <p:sp>
        <p:nvSpPr>
          <p:cNvPr id="2051" name="Holder 2">
            <a:extLst>
              <a:ext uri="{FF2B5EF4-FFF2-40B4-BE49-F238E27FC236}">
                <a16:creationId xmlns:a16="http://schemas.microsoft.com/office/drawing/2014/main" id="{53120071-D767-4ED3-BD65-F54042D1B3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90513" y="369888"/>
            <a:ext cx="11610975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2052" name="Holder 3">
            <a:extLst>
              <a:ext uri="{FF2B5EF4-FFF2-40B4-BE49-F238E27FC236}">
                <a16:creationId xmlns:a16="http://schemas.microsoft.com/office/drawing/2014/main" id="{469A0A52-7B7B-4C2D-9598-279FC79A9E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373438" y="3151188"/>
            <a:ext cx="54451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90E851F5-5214-46ED-93D9-456AB6DD074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621088" y="6069013"/>
            <a:ext cx="4951412" cy="4603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 sz="1000">
                <a:solidFill>
                  <a:srgbClr val="3F3F3F"/>
                </a:solidFill>
                <a:latin typeface="Century" pitchFamily="18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Swamy L N, Ph.D Dissertation Defense on Development of Novel algorithms for Sentiment Analysis of E-Commerce Applications using Machine Learning Techniques.”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2692C2FC-0662-4E3F-B209-FF4C5D23E46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609600" y="5953125"/>
            <a:ext cx="2803525" cy="276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6AF67E8-471C-499A-94F6-36A90E9F7F0A}" type="datetime1">
              <a:rPr lang="en-US"/>
              <a:pPr>
                <a:defRPr/>
              </a:pPr>
              <a:t>10/13/2026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55A72A5C-9527-4125-83F2-EC995F2969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806238" y="6091238"/>
            <a:ext cx="231775" cy="21590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 sz="1400">
                <a:solidFill>
                  <a:schemeClr val="bg1"/>
                </a:solidFill>
                <a:latin typeface="Century" panose="02040604050505020304" pitchFamily="18" charset="0"/>
              </a:defRPr>
            </a:lvl1pPr>
          </a:lstStyle>
          <a:p>
            <a:pPr>
              <a:defRPr/>
            </a:pPr>
            <a:fld id="{16C44A08-EB8C-49F2-A73C-CB50ACE15C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9" r:id="rId3"/>
    <p:sldLayoutId id="2147484256" r:id="rId4"/>
    <p:sldLayoutId id="2147484260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162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6pPr>
      <a:lvl7pPr marL="914326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7pPr>
      <a:lvl8pPr marL="1371488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8pPr>
      <a:lvl9pPr marL="1828652" algn="ctr" rtl="0" eaLnBrk="1" fontAlgn="base" hangingPunct="1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itchFamily="34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3300">
          <a:solidFill>
            <a:schemeClr val="tx1"/>
          </a:solidFill>
          <a:latin typeface="+mn-lt"/>
          <a:ea typeface="+mn-ea"/>
          <a:cs typeface="+mn-cs"/>
        </a:defRPr>
      </a:lvl1pPr>
      <a:lvl2pPr marL="455613" indent="1588" algn="l" rtl="0" eaLnBrk="0" fontAlgn="base" hangingPunct="0">
        <a:spcBef>
          <a:spcPct val="20000"/>
        </a:spcBef>
        <a:spcAft>
          <a:spcPct val="0"/>
        </a:spcAft>
        <a:buChar char="–"/>
        <a:defRPr sz="2900">
          <a:solidFill>
            <a:schemeClr val="tx1"/>
          </a:solidFill>
          <a:latin typeface="+mn-lt"/>
          <a:ea typeface="+mn-ea"/>
          <a:cs typeface="+mn-cs"/>
        </a:defRPr>
      </a:lvl2pPr>
      <a:lvl3pPr marL="912813" indent="1588" algn="l" rtl="0" eaLnBrk="0" fontAlgn="base" hangingPunct="0"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  <a:cs typeface="+mn-cs"/>
        </a:defRPr>
      </a:lvl3pPr>
      <a:lvl4pPr marL="1370013" indent="1588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827213" indent="15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285814" eaLnBrk="1" hangingPunct="1">
        <a:defRPr>
          <a:latin typeface="+mn-lt"/>
          <a:ea typeface="+mn-ea"/>
          <a:cs typeface="+mn-cs"/>
        </a:defRPr>
      </a:lvl6pPr>
      <a:lvl7pPr marL="2742978" eaLnBrk="1" hangingPunct="1">
        <a:defRPr>
          <a:latin typeface="+mn-lt"/>
          <a:ea typeface="+mn-ea"/>
          <a:cs typeface="+mn-cs"/>
        </a:defRPr>
      </a:lvl7pPr>
      <a:lvl8pPr marL="3200140" eaLnBrk="1" hangingPunct="1">
        <a:defRPr>
          <a:latin typeface="+mn-lt"/>
          <a:ea typeface="+mn-ea"/>
          <a:cs typeface="+mn-cs"/>
        </a:defRPr>
      </a:lvl8pPr>
      <a:lvl9pPr marL="3657304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162" eaLnBrk="1" hangingPunct="1">
        <a:defRPr>
          <a:latin typeface="+mn-lt"/>
          <a:ea typeface="+mn-ea"/>
          <a:cs typeface="+mn-cs"/>
        </a:defRPr>
      </a:lvl2pPr>
      <a:lvl3pPr marL="914326" eaLnBrk="1" hangingPunct="1">
        <a:defRPr>
          <a:latin typeface="+mn-lt"/>
          <a:ea typeface="+mn-ea"/>
          <a:cs typeface="+mn-cs"/>
        </a:defRPr>
      </a:lvl3pPr>
      <a:lvl4pPr marL="1371488" eaLnBrk="1" hangingPunct="1">
        <a:defRPr>
          <a:latin typeface="+mn-lt"/>
          <a:ea typeface="+mn-ea"/>
          <a:cs typeface="+mn-cs"/>
        </a:defRPr>
      </a:lvl4pPr>
      <a:lvl5pPr marL="1828652" eaLnBrk="1" hangingPunct="1">
        <a:defRPr>
          <a:latin typeface="+mn-lt"/>
          <a:ea typeface="+mn-ea"/>
          <a:cs typeface="+mn-cs"/>
        </a:defRPr>
      </a:lvl5pPr>
      <a:lvl6pPr marL="2285814" eaLnBrk="1" hangingPunct="1">
        <a:defRPr>
          <a:latin typeface="+mn-lt"/>
          <a:ea typeface="+mn-ea"/>
          <a:cs typeface="+mn-cs"/>
        </a:defRPr>
      </a:lvl6pPr>
      <a:lvl7pPr marL="2742978" eaLnBrk="1" hangingPunct="1">
        <a:defRPr>
          <a:latin typeface="+mn-lt"/>
          <a:ea typeface="+mn-ea"/>
          <a:cs typeface="+mn-cs"/>
        </a:defRPr>
      </a:lvl7pPr>
      <a:lvl8pPr marL="3200140" eaLnBrk="1" hangingPunct="1">
        <a:defRPr>
          <a:latin typeface="+mn-lt"/>
          <a:ea typeface="+mn-ea"/>
          <a:cs typeface="+mn-cs"/>
        </a:defRPr>
      </a:lvl8pPr>
      <a:lvl9pPr marL="3657304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7" descr="SeekPng.com_certificate-border-png_1563132.png">
            <a:extLst>
              <a:ext uri="{FF2B5EF4-FFF2-40B4-BE49-F238E27FC236}">
                <a16:creationId xmlns:a16="http://schemas.microsoft.com/office/drawing/2014/main" id="{F84C3696-E7C5-4734-B002-9F2270CDF68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2192001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38B50C6-31EF-456C-A60D-E665171321D9}"/>
              </a:ext>
            </a:extLst>
          </p:cNvPr>
          <p:cNvSpPr/>
          <p:nvPr/>
        </p:nvSpPr>
        <p:spPr>
          <a:xfrm>
            <a:off x="3081655" y="361607"/>
            <a:ext cx="6096000" cy="984877"/>
          </a:xfrm>
          <a:prstGeom prst="rect">
            <a:avLst/>
          </a:prstGeom>
        </p:spPr>
        <p:txBody>
          <a:bodyPr lIns="91432" tIns="45716" rIns="91432" bIns="45716">
            <a:spAutoFit/>
          </a:bodyPr>
          <a:lstStyle/>
          <a:p>
            <a:pPr algn="ctr" eaLnBrk="1" hangingPunct="1">
              <a:defRPr/>
            </a:pPr>
            <a:r>
              <a:rPr lang="en-US" altLang="zh-TW" sz="2900" b="1" dirty="0">
                <a:ln w="1905"/>
                <a:solidFill>
                  <a:schemeClr val="accent6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M S ENGINEERING COLLEGE</a:t>
            </a:r>
          </a:p>
          <a:p>
            <a:pPr algn="ctr" eaLnBrk="1" hangingPunct="1">
              <a:defRPr/>
            </a:pPr>
            <a:r>
              <a:rPr lang="en-US" altLang="zh-TW" sz="2900" b="1" dirty="0">
                <a:ln w="1905"/>
                <a:solidFill>
                  <a:schemeClr val="accent6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BENGALURU</a:t>
            </a:r>
          </a:p>
        </p:txBody>
      </p:sp>
      <p:pic>
        <p:nvPicPr>
          <p:cNvPr id="47" name="Picture 10" descr="vtu logo 1.jpg">
            <a:extLst>
              <a:ext uri="{FF2B5EF4-FFF2-40B4-BE49-F238E27FC236}">
                <a16:creationId xmlns:a16="http://schemas.microsoft.com/office/drawing/2014/main" id="{94A40801-DACE-4005-99D1-B72E4285CD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0" y="231141"/>
            <a:ext cx="1280160" cy="1194817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C3D9395B-6AFD-4564-A891-E88301C2DD4B}"/>
              </a:ext>
            </a:extLst>
          </p:cNvPr>
          <p:cNvSpPr/>
          <p:nvPr/>
        </p:nvSpPr>
        <p:spPr>
          <a:xfrm>
            <a:off x="981075" y="1645289"/>
            <a:ext cx="10229851" cy="817236"/>
          </a:xfrm>
          <a:prstGeom prst="roundRect">
            <a:avLst/>
          </a:prstGeom>
          <a:ln/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32" tIns="45716" rIns="91432" bIns="45716">
            <a:spAutoFit/>
          </a:bodyPr>
          <a:lstStyle/>
          <a:p>
            <a:pPr algn="ctr" eaLnBrk="1" hangingPunct="1">
              <a:defRPr/>
            </a:pPr>
            <a:r>
              <a:rPr lang="en-US" altLang="zh-TW" sz="2100" b="1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anose="0204060206030A020304" pitchFamily="18" charset="0"/>
              </a:rPr>
              <a:t>BLOCKCREDAI: DECENTRALIZED EMPLOYMENT VERIFICATION WITH AI FRAUD DETECTION</a:t>
            </a:r>
            <a:endParaRPr lang="en-US" altLang="zh-TW" sz="2100" b="1" dirty="0">
              <a:ln w="1905"/>
              <a:solidFill>
                <a:srgbClr val="0070C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Footlight MT Light" panose="0204060206030A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4898309-1AE5-49C4-BE4A-99F363DB9FE4}"/>
              </a:ext>
            </a:extLst>
          </p:cNvPr>
          <p:cNvSpPr/>
          <p:nvPr/>
        </p:nvSpPr>
        <p:spPr>
          <a:xfrm>
            <a:off x="184152" y="4351657"/>
            <a:ext cx="5826125" cy="1569652"/>
          </a:xfrm>
          <a:prstGeom prst="rect">
            <a:avLst/>
          </a:prstGeom>
        </p:spPr>
        <p:txBody>
          <a:bodyPr lIns="91432" tIns="45716" rIns="91432" bIns="45716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1" dirty="0">
                <a:latin typeface="Footlight MT Light" pitchFamily="18" charset="0"/>
                <a:cs typeface="Times New Roman" pitchFamily="18" charset="0"/>
              </a:rPr>
              <a:t>By</a:t>
            </a:r>
            <a:br>
              <a:rPr lang="en-US" sz="1600" b="1" dirty="0">
                <a:solidFill>
                  <a:srgbClr val="002060"/>
                </a:solidFill>
                <a:latin typeface="Footlight MT Light" pitchFamily="18" charset="0"/>
                <a:cs typeface="Times New Roman" pitchFamily="18" charset="0"/>
              </a:rPr>
            </a:br>
            <a:r>
              <a:rPr lang="en-US" altLang="zh-TW" sz="2000" b="1" dirty="0">
                <a:ln w="1905"/>
                <a:solidFill>
                  <a:srgbClr val="0000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Aditya Kumar (1ME23IS003)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b="1" dirty="0">
                <a:ln w="1905"/>
                <a:solidFill>
                  <a:srgbClr val="0000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Rajeev Ranjan (1ME23IS032)</a:t>
            </a:r>
            <a:endParaRPr lang="en-US" altLang="zh-TW" sz="1400" b="1" dirty="0">
              <a:ln w="1905"/>
              <a:solidFill>
                <a:srgbClr val="0000CC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Footlight MT Light" pitchFamily="18" charset="0"/>
              <a:cs typeface="Arial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b="1" dirty="0">
                <a:ln w="1905"/>
                <a:solidFill>
                  <a:srgbClr val="0000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 Saurabh          (1ME23IS039)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b="1" dirty="0">
                <a:ln w="1905"/>
                <a:solidFill>
                  <a:srgbClr val="0000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 Saurabh Kumar (1ME23IS040)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65DA88F-F748-40C6-A846-6758F614006F}"/>
              </a:ext>
            </a:extLst>
          </p:cNvPr>
          <p:cNvSpPr/>
          <p:nvPr/>
        </p:nvSpPr>
        <p:spPr>
          <a:xfrm>
            <a:off x="6238875" y="4356103"/>
            <a:ext cx="5816600" cy="1523486"/>
          </a:xfrm>
          <a:prstGeom prst="rect">
            <a:avLst/>
          </a:prstGeom>
        </p:spPr>
        <p:txBody>
          <a:bodyPr lIns="91432" tIns="45716" rIns="91432" bIns="45716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i="1" dirty="0">
                <a:latin typeface="Footlight MT Light" pitchFamily="18" charset="0"/>
                <a:cs typeface="Times New Roman" pitchFamily="18" charset="0"/>
              </a:rPr>
              <a:t>Under the Guidance of </a:t>
            </a:r>
            <a:br>
              <a:rPr lang="en-US" sz="1600" b="1" dirty="0">
                <a:solidFill>
                  <a:srgbClr val="002060"/>
                </a:solidFill>
                <a:latin typeface="Footlight MT Light" pitchFamily="18" charset="0"/>
                <a:cs typeface="Times New Roman" pitchFamily="18" charset="0"/>
              </a:rPr>
            </a:br>
            <a:r>
              <a:rPr lang="en-US" altLang="zh-TW" sz="2900" b="1" dirty="0">
                <a:ln w="1905"/>
                <a:solidFill>
                  <a:srgbClr val="0000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Guide Name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2060"/>
                </a:solidFill>
                <a:latin typeface="Footlight MT Light" pitchFamily="18" charset="0"/>
                <a:cs typeface="Times New Roman" pitchFamily="18" charset="0"/>
              </a:rPr>
              <a:t>Designation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2060"/>
                </a:solidFill>
                <a:latin typeface="Footlight MT Light" pitchFamily="18" charset="0"/>
                <a:cs typeface="Times New Roman" pitchFamily="18" charset="0"/>
              </a:rPr>
              <a:t>Dept .of ISE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2060"/>
                </a:solidFill>
                <a:latin typeface="Footlight MT Light" pitchFamily="18" charset="0"/>
                <a:cs typeface="Times New Roman" pitchFamily="18" charset="0"/>
              </a:rPr>
              <a:t>MSEC</a:t>
            </a: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ED9C7ED7-8B6A-438D-8911-5C2930492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62581"/>
            <a:ext cx="12192000" cy="1369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32" tIns="45716" rIns="91432" bIns="45716" anchor="ctr">
            <a:spAutoFit/>
          </a:bodyPr>
          <a:lstStyle/>
          <a:p>
            <a:pPr algn="ctr">
              <a:defRPr/>
            </a:pPr>
            <a:r>
              <a:rPr lang="en-US" i="1" dirty="0">
                <a:latin typeface="Footlight MT Light" pitchFamily="18" charset="0"/>
                <a:cs typeface="Arial" charset="0"/>
              </a:rPr>
              <a:t>Submitted to the </a:t>
            </a:r>
          </a:p>
          <a:p>
            <a:pPr algn="ctr">
              <a:defRPr/>
            </a:pPr>
            <a:r>
              <a:rPr lang="en-US" altLang="zh-TW" sz="2900" b="1" dirty="0">
                <a:ln w="1905"/>
                <a:solidFill>
                  <a:srgbClr val="00B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Visvesvaraya Technological University, Belagavi</a:t>
            </a:r>
          </a:p>
          <a:p>
            <a:pPr algn="ctr">
              <a:defRPr/>
            </a:pPr>
            <a:r>
              <a:rPr lang="en-US" i="1" dirty="0">
                <a:latin typeface="Footlight MT Light" pitchFamily="18" charset="0"/>
                <a:cs typeface="Arial" charset="0"/>
              </a:rPr>
              <a:t>in partial fulfillment of the requirements for the award of the degree of</a:t>
            </a:r>
          </a:p>
          <a:p>
            <a:pPr algn="ctr">
              <a:defRPr/>
            </a:pPr>
            <a:r>
              <a:rPr lang="en-US" altLang="zh-TW" b="1" dirty="0">
                <a:ln w="1905"/>
                <a:solidFill>
                  <a:schemeClr val="accent6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Footlight MT Light" pitchFamily="18" charset="0"/>
                <a:cs typeface="Arial" charset="0"/>
              </a:rPr>
              <a:t>Bachelor of Engineering in Information Science &amp; Engineering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5907FB-BC5B-409B-BF6A-3F63FCF8E2B9}"/>
              </a:ext>
            </a:extLst>
          </p:cNvPr>
          <p:cNvSpPr/>
          <p:nvPr/>
        </p:nvSpPr>
        <p:spPr>
          <a:xfrm>
            <a:off x="161925" y="2782888"/>
            <a:ext cx="11887200" cy="0"/>
          </a:xfrm>
          <a:prstGeom prst="rect">
            <a:avLst/>
          </a:prstGeom>
          <a:gradFill flip="none" rotWithShape="1">
            <a:gsLst>
              <a:gs pos="0">
                <a:srgbClr val="C49500">
                  <a:shade val="30000"/>
                  <a:satMod val="115000"/>
                </a:srgbClr>
              </a:gs>
              <a:gs pos="50000">
                <a:srgbClr val="C49500">
                  <a:shade val="67500"/>
                  <a:satMod val="115000"/>
                </a:srgbClr>
              </a:gs>
              <a:gs pos="100000">
                <a:srgbClr val="C49500">
                  <a:shade val="100000"/>
                  <a:satMod val="115000"/>
                </a:srgbClr>
              </a:gs>
            </a:gsLst>
            <a:lin ang="13500000" scaled="1"/>
            <a:tileRect/>
          </a:gradFill>
          <a:ln w="9525" cap="flat" cmpd="sng" algn="ctr">
            <a:solidFill>
              <a:srgbClr val="A47D00"/>
            </a:solidFill>
            <a:prstDash val="solid"/>
          </a:ln>
          <a:effectLst/>
        </p:spPr>
        <p:txBody>
          <a:bodyPr lIns="91432" tIns="45716" rIns="91432" bIns="4571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FF"/>
              </a:solidFill>
              <a:latin typeface="Gill Sans MT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B33417-217F-41FE-B09C-D27D47CD80B2}"/>
              </a:ext>
            </a:extLst>
          </p:cNvPr>
          <p:cNvSpPr/>
          <p:nvPr/>
        </p:nvSpPr>
        <p:spPr>
          <a:xfrm>
            <a:off x="161925" y="4311650"/>
            <a:ext cx="11887200" cy="0"/>
          </a:xfrm>
          <a:prstGeom prst="rect">
            <a:avLst/>
          </a:prstGeom>
          <a:gradFill flip="none" rotWithShape="1">
            <a:gsLst>
              <a:gs pos="0">
                <a:srgbClr val="C49500">
                  <a:shade val="30000"/>
                  <a:satMod val="115000"/>
                </a:srgbClr>
              </a:gs>
              <a:gs pos="50000">
                <a:srgbClr val="C49500">
                  <a:shade val="67500"/>
                  <a:satMod val="115000"/>
                </a:srgbClr>
              </a:gs>
              <a:gs pos="100000">
                <a:srgbClr val="C49500">
                  <a:shade val="100000"/>
                  <a:satMod val="115000"/>
                </a:srgbClr>
              </a:gs>
            </a:gsLst>
            <a:lin ang="13500000" scaled="1"/>
            <a:tileRect/>
          </a:gradFill>
          <a:ln w="9525" cap="flat" cmpd="sng" algn="ctr">
            <a:solidFill>
              <a:srgbClr val="A47D00"/>
            </a:solidFill>
            <a:prstDash val="solid"/>
          </a:ln>
          <a:effectLst/>
        </p:spPr>
        <p:txBody>
          <a:bodyPr lIns="91432" tIns="45716" rIns="91432" bIns="4571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FF"/>
              </a:solidFill>
              <a:latin typeface="Gill Sans MT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0F88DB-9163-4B50-B3E1-67BE27DF47DB}"/>
              </a:ext>
            </a:extLst>
          </p:cNvPr>
          <p:cNvSpPr/>
          <p:nvPr/>
        </p:nvSpPr>
        <p:spPr>
          <a:xfrm rot="5400000" flipV="1">
            <a:off x="5112544" y="5310982"/>
            <a:ext cx="1963737" cy="0"/>
          </a:xfrm>
          <a:prstGeom prst="rect">
            <a:avLst/>
          </a:prstGeom>
          <a:gradFill flip="none" rotWithShape="1">
            <a:gsLst>
              <a:gs pos="0">
                <a:srgbClr val="C49500">
                  <a:shade val="30000"/>
                  <a:satMod val="115000"/>
                </a:srgbClr>
              </a:gs>
              <a:gs pos="50000">
                <a:srgbClr val="C49500">
                  <a:shade val="67500"/>
                  <a:satMod val="115000"/>
                </a:srgbClr>
              </a:gs>
              <a:gs pos="100000">
                <a:srgbClr val="C49500">
                  <a:shade val="100000"/>
                  <a:satMod val="115000"/>
                </a:srgbClr>
              </a:gs>
            </a:gsLst>
            <a:lin ang="13500000" scaled="1"/>
            <a:tileRect/>
          </a:gradFill>
          <a:ln w="9525" cap="flat" cmpd="sng" algn="ctr">
            <a:solidFill>
              <a:srgbClr val="A47D00"/>
            </a:solidFill>
            <a:prstDash val="solid"/>
          </a:ln>
          <a:effectLst/>
        </p:spPr>
        <p:txBody>
          <a:bodyPr lIns="91432" tIns="45716" rIns="91432" bIns="4571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FF"/>
              </a:solidFill>
              <a:latin typeface="Gill Sans MT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76A224-A985-49E1-9BE3-B04213D77A43}"/>
              </a:ext>
            </a:extLst>
          </p:cNvPr>
          <p:cNvSpPr/>
          <p:nvPr/>
        </p:nvSpPr>
        <p:spPr>
          <a:xfrm>
            <a:off x="152400" y="1555750"/>
            <a:ext cx="11887200" cy="0"/>
          </a:xfrm>
          <a:prstGeom prst="rect">
            <a:avLst/>
          </a:prstGeom>
          <a:solidFill>
            <a:srgbClr val="808000"/>
          </a:solidFill>
          <a:ln w="9525" cap="flat" cmpd="sng" algn="ctr">
            <a:solidFill>
              <a:srgbClr val="A47D00"/>
            </a:solidFill>
            <a:prstDash val="solid"/>
          </a:ln>
          <a:effectLst/>
        </p:spPr>
        <p:txBody>
          <a:bodyPr lIns="91432" tIns="45716" rIns="91432" bIns="4571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FFFFFF"/>
              </a:solidFill>
              <a:latin typeface="Gill Sans MT"/>
              <a:cs typeface="+mn-cs"/>
            </a:endParaRPr>
          </a:p>
        </p:txBody>
      </p:sp>
      <p:pic>
        <p:nvPicPr>
          <p:cNvPr id="8205" name="Picture 14" descr="M. S. Engineering College">
            <a:extLst>
              <a:ext uri="{FF2B5EF4-FFF2-40B4-BE49-F238E27FC236}">
                <a16:creationId xmlns:a16="http://schemas.microsoft.com/office/drawing/2014/main" id="{BB9FC413-C7C2-416F-93DF-F6F2FC708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6650" y="212725"/>
            <a:ext cx="1212850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8" descr="hh.PNG">
            <a:extLst>
              <a:ext uri="{FF2B5EF4-FFF2-40B4-BE49-F238E27FC236}">
                <a16:creationId xmlns:a16="http://schemas.microsoft.com/office/drawing/2014/main" id="{794826FA-FC9F-456A-9DDE-B354BDAC0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7" descr="2276.PNG">
            <a:extLst>
              <a:ext uri="{FF2B5EF4-FFF2-40B4-BE49-F238E27FC236}">
                <a16:creationId xmlns:a16="http://schemas.microsoft.com/office/drawing/2014/main" id="{6A199F8F-961C-4FD6-A5F2-40494217E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52A2716-E026-4E13-8AE6-3B93CA5B9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Flow of Presentation 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6D7AF-7603-4595-BE43-748FEE38A225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347C64EA-B4B8-49AF-A44F-CF907345F7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14" descr="M. S. Engineering College">
            <a:extLst>
              <a:ext uri="{FF2B5EF4-FFF2-40B4-BE49-F238E27FC236}">
                <a16:creationId xmlns:a16="http://schemas.microsoft.com/office/drawing/2014/main" id="{6E2D857C-5392-419A-A997-DCE0EED10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07F172-03A4-4BE3-B365-182B8CF36C69}"/>
              </a:ext>
            </a:extLst>
          </p:cNvPr>
          <p:cNvSpPr txBox="1"/>
          <p:nvPr/>
        </p:nvSpPr>
        <p:spPr>
          <a:xfrm>
            <a:off x="635000" y="1079500"/>
            <a:ext cx="10922000" cy="28469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1400" b="1">
                <a:solidFill>
                  <a:srgbClr val="0070C0"/>
                </a:solidFill>
                <a:latin typeface="Calibri" panose="020F0502020204030204" pitchFamily="34" charset="0"/>
              </a:rPr>
              <a:t>•  1:</a:t>
            </a: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 Abstract &amp; Project Motivation
</a:t>
            </a:r>
            <a:r>
              <a:rPr lang="en-IN" sz="1400" b="1">
                <a:solidFill>
                  <a:srgbClr val="0070C0"/>
                </a:solidFill>
                <a:latin typeface="Calibri" panose="020F0502020204030204" pitchFamily="34" charset="0"/>
              </a:rPr>
              <a:t>•  2:</a:t>
            </a: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 Introduction &amp; Problem Context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3: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Literature Review &amp; State of the Art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4: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System Analysis &amp; Problem Statement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5: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System Design (HLD &amp; LLD Architecture)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6: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Implementation &amp; Execution Flowchart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7: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Testing &amp; Verification Matrix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8: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Conclusion &amp; Future Enhancements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9: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Live Prototype Screenshots
</a:t>
            </a:r>
            <a:r>
              <a:rPr lang="en-US" sz="1400" b="1">
                <a:solidFill>
                  <a:srgbClr val="0070C0"/>
                </a:solidFill>
                <a:latin typeface="Calibri" panose="020F0502020204030204" pitchFamily="34" charset="0"/>
              </a:rPr>
              <a:t>•  10:</a:t>
            </a:r>
            <a:r>
              <a:rPr lang="en-US" sz="1400">
                <a:solidFill>
                  <a:srgbClr val="222222"/>
                </a:solidFill>
                <a:latin typeface="Calibri" panose="020F0502020204030204" pitchFamily="34" charset="0"/>
              </a:rPr>
              <a:t> Publications &amp; References</a:t>
            </a:r>
            <a:endParaRPr lang="en-IN" sz="14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8" descr="hh.PNG">
            <a:extLst>
              <a:ext uri="{FF2B5EF4-FFF2-40B4-BE49-F238E27FC236}">
                <a16:creationId xmlns:a16="http://schemas.microsoft.com/office/drawing/2014/main" id="{9275EEF3-DF9D-4914-895F-E0A036C7D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7" descr="2276.PNG">
            <a:extLst>
              <a:ext uri="{FF2B5EF4-FFF2-40B4-BE49-F238E27FC236}">
                <a16:creationId xmlns:a16="http://schemas.microsoft.com/office/drawing/2014/main" id="{1DA2BE5E-5998-41BA-85A5-E57479D81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C8A42BE-A584-4AC8-940A-61941612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ABSTRACT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F0C20F-B9C5-42EA-B1F9-06274E2A8340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54985CA8-067D-4D31-B03D-A70D2FECD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9" name="Picture 14" descr="M. S. Engineering College">
            <a:extLst>
              <a:ext uri="{FF2B5EF4-FFF2-40B4-BE49-F238E27FC236}">
                <a16:creationId xmlns:a16="http://schemas.microsoft.com/office/drawing/2014/main" id="{DA5A491E-D254-4375-B80E-6C3560689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016835-DBFB-405D-8149-3FB550AFB988}"/>
              </a:ext>
            </a:extLst>
          </p:cNvPr>
          <p:cNvSpPr txBox="1"/>
          <p:nvPr/>
        </p:nvSpPr>
        <p:spPr>
          <a:xfrm>
            <a:off x="635000" y="1079500"/>
            <a:ext cx="10922000" cy="25904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Problem Context: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Credential fabrication, inflated job titles, and fake experience certificates severely undermine hiring integrity, with global surveys indicating over 70% of resumes contain discrepancies.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Industry Bottleneck: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Conventional background screening relies on slow manual phone/email verifications taking 2–4 weeks, costing $50–$200 per candidate with zero cross-employer data portability.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Proposed Solution: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BlockCredAI delivers an end-to-end decentralized trust platform fusing EVM smart contracts with an asynchronous AI Natural Language Processing fraud detection microservice.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Dual-Layer Innovation: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Combines non-transferable ERC-721 Soulbound-style cryptographic badges minted by authorized employers with a bi-gram TF-IDF &amp; Logistic Regression discrepancy classifier.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Key Outcomes: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Achieves sub-second on-chain verification, 0% fraud risk for cryptographic matches, automated detection of unverified claims, and zero intermediary verification fees.</a:t>
            </a:r>
            <a:endParaRPr lang="en-IN" sz="135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8" descr="hh.PNG">
            <a:extLst>
              <a:ext uri="{FF2B5EF4-FFF2-40B4-BE49-F238E27FC236}">
                <a16:creationId xmlns:a16="http://schemas.microsoft.com/office/drawing/2014/main" id="{EE3B2A3A-3927-4E55-AA04-46BD8164F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7" descr="2276.PNG">
            <a:extLst>
              <a:ext uri="{FF2B5EF4-FFF2-40B4-BE49-F238E27FC236}">
                <a16:creationId xmlns:a16="http://schemas.microsoft.com/office/drawing/2014/main" id="{0B33E0B1-77E8-4B2B-A7C9-D5BADCCF7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C8226E1-A2A4-4E08-8D8C-4FB77EBE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INTRODUCTION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3F0E3-DFEB-4706-8F5F-BC1731DD9E1A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7E4CE940-A2AC-42DE-9B9C-1FF0521D04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3" name="Picture 14" descr="M. S. Engineering College">
            <a:extLst>
              <a:ext uri="{FF2B5EF4-FFF2-40B4-BE49-F238E27FC236}">
                <a16:creationId xmlns:a16="http://schemas.microsoft.com/office/drawing/2014/main" id="{0072ADB9-4983-468F-9269-5747A6E98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EA4EF3-11A6-4CD7-BB83-6F25DFD65517}"/>
              </a:ext>
            </a:extLst>
          </p:cNvPr>
          <p:cNvSpPr txBox="1"/>
          <p:nvPr/>
        </p:nvSpPr>
        <p:spPr>
          <a:xfrm>
            <a:off x="635000" y="1079500"/>
            <a:ext cx="10922000" cy="25904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Background &amp; Motivation: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The explosion of remote work and automated hiring has accelerated resume fraud; hiring teams lack a cryptographically secure method to verify historical employment claims.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Decentralized Identity Vision: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Transitioning from vulnerable paper certificates and forgeable PDFs to verifiable on-chain credentials cryptographically signed by authorized corporate entities.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Blockchain Ledger Tier: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Ethereum-compatible smart contracts store immutable employee job histories, including corporate wallet identity, job descriptions, and verified date boundaries.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AI Fraud Scoring Tier: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Machine learning microservice analyzes candidate resume text against claimed experiences and on-chain records, computing real-time fraud probability scores.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Primary Target Beneficiaries: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Recruiters (instant verification), Candidates (self-sovereign credential ownership), and Enterprise Employers (tamper-proof alumni verification).</a:t>
            </a:r>
            <a:endParaRPr lang="en-IN" sz="135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8" descr="hh.PNG">
            <a:extLst>
              <a:ext uri="{FF2B5EF4-FFF2-40B4-BE49-F238E27FC236}">
                <a16:creationId xmlns:a16="http://schemas.microsoft.com/office/drawing/2014/main" id="{51274C83-F7C1-431E-A807-D3B5F0200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7" descr="2276.PNG">
            <a:extLst>
              <a:ext uri="{FF2B5EF4-FFF2-40B4-BE49-F238E27FC236}">
                <a16:creationId xmlns:a16="http://schemas.microsoft.com/office/drawing/2014/main" id="{05803C97-7D9F-4E12-B31C-C6E258051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E13C7F7-4FA0-4DF3-8306-6FEFB3B1E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LITERATURE REVIEW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25AA6-D698-4696-8444-8BA2F3B0541E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7AB94C82-F3B2-4D60-A1E6-1F815DF578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7" name="Picture 14" descr="M. S. Engineering College">
            <a:extLst>
              <a:ext uri="{FF2B5EF4-FFF2-40B4-BE49-F238E27FC236}">
                <a16:creationId xmlns:a16="http://schemas.microsoft.com/office/drawing/2014/main" id="{25B76D6C-4738-4493-8651-12CD37E28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0FF5DE-F545-4237-BF6D-8C3B684C3993}"/>
              </a:ext>
            </a:extLst>
          </p:cNvPr>
          <p:cNvSpPr txBox="1"/>
          <p:nvPr/>
        </p:nvSpPr>
        <p:spPr>
          <a:xfrm>
            <a:off x="635000" y="1079500"/>
            <a:ext cx="10922000" cy="29623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1150" b="1">
                <a:solidFill>
                  <a:srgbClr val="0070C0"/>
                </a:solidFill>
                <a:latin typeface="Calibri" panose="020F0502020204030204" pitchFamily="34" charset="0"/>
              </a:rPr>
              <a:t>•  1. Said et al. (IEEE Access, 2025):</a:t>
            </a:r>
            <a:r>
              <a:rPr lang="en-IN" sz="1150">
                <a:solidFill>
                  <a:srgbClr val="222222"/>
                </a:solidFill>
                <a:latin typeface="Calibri" panose="020F0502020204030204" pitchFamily="34" charset="0"/>
              </a:rPr>
              <a:t> A Comprehensive Blockchain-Based System for Educational Qualifications Management and Verification (ElimuChain) — Utilized Binance Smart Chain smart contracts and IPFS for decentralized credential anti-forgery validation. [Gap Addressed: Focuses strictly on static academic qualifications; lacks dynamic multi-employer tenure tracking and real-time AI/NLP resume discrepancy auditing].
</a:t>
            </a:r>
            <a:r>
              <a:rPr lang="en-IN" sz="1150" b="1">
                <a:solidFill>
                  <a:srgbClr val="0070C0"/>
                </a:solidFill>
                <a:latin typeface="Calibri" panose="020F0502020204030204" pitchFamily="34" charset="0"/>
              </a:rPr>
              <a:t>•  2. Tariq et al. (IEEE TCSS, 2024):</a:t>
            </a:r>
            <a:r>
              <a:rPr lang="en-IN" sz="1150">
                <a:solidFill>
                  <a:srgbClr val="222222"/>
                </a:solidFill>
                <a:latin typeface="Calibri" panose="020F0502020204030204" pitchFamily="34" charset="0"/>
              </a:rPr>
              <a:t> Cerberus: A Blockchain-Based Accreditation and Degree Verification System — Designed an immutable on-chain credential verification and revocation architecture using Ethereum smart contracts to mitigate educational fraud. [Gap Addressed: Tailored for academic degree accreditation; lacks corporate tenure tracking, role transitions, or automated ML discrepancy scoring].
</a:t>
            </a:r>
            <a:r>
              <a:rPr lang="en-US" sz="1150" b="1">
                <a:solidFill>
                  <a:srgbClr val="0070C0"/>
                </a:solidFill>
                <a:latin typeface="Calibri" panose="020F0502020204030204" pitchFamily="34" charset="0"/>
              </a:rPr>
              <a:t>•  3. Sakib et al. (IEEE ICCIT, 2023):</a:t>
            </a:r>
            <a:r>
              <a:rPr lang="en-US" sz="1150">
                <a:solidFill>
                  <a:srgbClr val="222222"/>
                </a:solidFill>
                <a:latin typeface="Calibri" panose="020F0502020204030204" pitchFamily="34" charset="0"/>
              </a:rPr>
              <a:t> Blockchain Based Certificate Verification for Employee Hiring &amp; Admission System — Developed an Ethereum smart contract and Web3 wallet workflow to verify applicant credentials directly during recruitment. [Gap Addressed: Relies on manual hash matching; lacks an automated NLP engine to extract and cross-examine unstructured PDF resume claims against chain state].
</a:t>
            </a:r>
            <a:r>
              <a:rPr lang="en-US" sz="1150" b="1">
                <a:solidFill>
                  <a:srgbClr val="0070C0"/>
                </a:solidFill>
                <a:latin typeface="Calibri" panose="020F0502020204030204" pitchFamily="34" charset="0"/>
              </a:rPr>
              <a:t>•  4. Habib et al. (IEEE Access, 2022):</a:t>
            </a:r>
            <a:r>
              <a:rPr lang="en-US" sz="1150">
                <a:solidFill>
                  <a:srgbClr val="222222"/>
                </a:solidFill>
                <a:latin typeface="Calibri" panose="020F0502020204030204" pitchFamily="34" charset="0"/>
              </a:rPr>
              <a:t> Online Recruitment Fraud (ORF) Detection Using Machine Learning &amp; NLP Techniques — Evaluated TF-IDF n-grams with Random Forest and Logistic Regression classifiers, achieving high predictive accuracy on fraudulent employment text. [Gap Addressed: Analyzes isolated text patterns only; lacks cryptographic ledger integration to verify historical candidate claims against trusted issuers].
</a:t>
            </a:r>
            <a:r>
              <a:rPr lang="en-US" sz="1150" b="1">
                <a:solidFill>
                  <a:srgbClr val="0070C0"/>
                </a:solidFill>
                <a:latin typeface="Calibri" panose="020F0502020204030204" pitchFamily="34" charset="0"/>
              </a:rPr>
              <a:t>•  5. Han et al. (IEEE Access, 2022):</a:t>
            </a:r>
            <a:r>
              <a:rPr lang="en-US" sz="1150">
                <a:solidFill>
                  <a:srgbClr val="222222"/>
                </a:solidFill>
                <a:latin typeface="Calibri" panose="020F0502020204030204" pitchFamily="34" charset="0"/>
              </a:rPr>
              <a:t> A Secure Academic &amp; Employment Certificate Management System Using Blockchain Technology — Formulated a decentralized role-based access control (RBAC) model for issuing and verifying employment credentials on Ethereum. [Gap Addressed: Suffers from high public mainnet gas overhead and lacks automated semantic CV parsing to catch inflated candidate timelines].</a:t>
            </a:r>
            <a:endParaRPr lang="en-IN" sz="115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8" descr="hh.PNG">
            <a:extLst>
              <a:ext uri="{FF2B5EF4-FFF2-40B4-BE49-F238E27FC236}">
                <a16:creationId xmlns:a16="http://schemas.microsoft.com/office/drawing/2014/main" id="{98BBA416-FE32-4030-9F37-1E5C5C00B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7" descr="2276.PNG">
            <a:extLst>
              <a:ext uri="{FF2B5EF4-FFF2-40B4-BE49-F238E27FC236}">
                <a16:creationId xmlns:a16="http://schemas.microsoft.com/office/drawing/2014/main" id="{542AE28A-1769-43FD-802B-761A4259E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BBA7CE8-7A49-4303-A82F-9E5A21B8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SYSTEM ANALYSIS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D67B7-5D1F-4EB8-A0EA-41ECB0080E45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2BD7C883-B92A-4A6D-A7AE-A1C418B2E6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21" name="Picture 14" descr="M. S. Engineering College">
            <a:extLst>
              <a:ext uri="{FF2B5EF4-FFF2-40B4-BE49-F238E27FC236}">
                <a16:creationId xmlns:a16="http://schemas.microsoft.com/office/drawing/2014/main" id="{22B6078F-0705-4277-AB67-07690576C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719E1F-8D0D-47A4-963C-E12590DEC6A0}"/>
              </a:ext>
            </a:extLst>
          </p:cNvPr>
          <p:cNvSpPr txBox="1"/>
          <p:nvPr/>
        </p:nvSpPr>
        <p:spPr>
          <a:xfrm>
            <a:off x="635000" y="1079500"/>
            <a:ext cx="10922000" cy="18492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300" b="1">
                <a:solidFill>
                  <a:srgbClr val="0070C0"/>
                </a:solidFill>
                <a:latin typeface="Calibri" panose="020F0502020204030204" pitchFamily="34" charset="0"/>
              </a:rPr>
              <a:t>•  Problems in Existing Systems:</a:t>
            </a:r>
            <a:r>
              <a:rPr lang="en-IN" sz="1300">
                <a:solidFill>
                  <a:srgbClr val="222222"/>
                </a:solidFill>
                <a:latin typeface="Calibri" panose="020F0502020204030204" pitchFamily="34" charset="0"/>
              </a:rPr>
              <a:t> 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High Latency &amp; Bottlenecks: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Manual employer HR correspondence introduces 2 to 4-week delays, stalling high-velocity recruitment pipelines.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Vulnerability to Forgery: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PDF offer letters, experience certificates, and reference contacts are trivial to forge using modern digital editing tools.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Lack of Cross-Employer Trust: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Verification performed by one firm cannot be cryptographically verified or reused by subsequent prospective employers.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Problem Statement: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Engineering Formulation: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To design, implement, and validate a decentralized employment verification platform that registers tamper-proof cryptographic credentials on an Ethereum blockchain and integrates a machine learning NLP pipeline to detect resume fraud and tenure discrepancies in real-time.</a:t>
            </a:r>
            <a:endParaRPr lang="en-IN" sz="13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8" descr="hh.PNG">
            <a:extLst>
              <a:ext uri="{FF2B5EF4-FFF2-40B4-BE49-F238E27FC236}">
                <a16:creationId xmlns:a16="http://schemas.microsoft.com/office/drawing/2014/main" id="{9BECC3B2-56B9-44C4-AA20-6DB26777D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7" descr="2276.PNG">
            <a:extLst>
              <a:ext uri="{FF2B5EF4-FFF2-40B4-BE49-F238E27FC236}">
                <a16:creationId xmlns:a16="http://schemas.microsoft.com/office/drawing/2014/main" id="{7F54BEFE-68F2-4850-8A24-00A6D5738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72CDA84-9498-407E-80F1-98390D18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SYSTEM DESIGN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04FB3-9CCB-44B1-A070-0B983002E023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47945772-90E9-402D-9E70-C4CF4EC11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4" descr="M. S. Engineering College">
            <a:extLst>
              <a:ext uri="{FF2B5EF4-FFF2-40B4-BE49-F238E27FC236}">
                <a16:creationId xmlns:a16="http://schemas.microsoft.com/office/drawing/2014/main" id="{BE69B646-01D1-4E87-BE81-7AFB28110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6BA621-6E5F-4B1C-941B-B58A9F7640AF}"/>
              </a:ext>
            </a:extLst>
          </p:cNvPr>
          <p:cNvSpPr txBox="1"/>
          <p:nvPr/>
        </p:nvSpPr>
        <p:spPr>
          <a:xfrm>
            <a:off x="635000" y="1079500"/>
            <a:ext cx="10922000" cy="175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Core Objectives of the Work: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Cryptographic Badges: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Develop an ERC-721 smart contract to mint tamper-proof non-transferable employment badges with role-based access control.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Automated Discrepancy Scoring: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Build an NLP model combining TF-IDF bi-grams and logistic regression with an unverified claim penalty boost formula.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Multi-Tier Architectural Decoupling: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Architect cleanly separated Presentation, API Gateway, AI Microservice, and Web3 Blockchain execution layers.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End-to-End User Experience: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Provide a responsive Web3 dashboard allowing seamless PDF resume parsing, MetaMask signing, and instant audit verdict display.</a:t>
            </a:r>
            <a:endParaRPr lang="en-IN" sz="135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8" descr="hh.PNG">
            <a:extLst>
              <a:ext uri="{FF2B5EF4-FFF2-40B4-BE49-F238E27FC236}">
                <a16:creationId xmlns:a16="http://schemas.microsoft.com/office/drawing/2014/main" id="{9BECC3B2-56B9-44C4-AA20-6DB26777D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7" descr="2276.PNG">
            <a:extLst>
              <a:ext uri="{FF2B5EF4-FFF2-40B4-BE49-F238E27FC236}">
                <a16:creationId xmlns:a16="http://schemas.microsoft.com/office/drawing/2014/main" id="{7F54BEFE-68F2-4850-8A24-00A6D5738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72CDA84-9498-407E-80F1-98390D18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2800" b="1" spc="-5">
                <a:solidFill>
                  <a:srgbClr val="843C0C"/>
                </a:solidFill>
                <a:latin typeface="Footlight MT Light" pitchFamily="18" charset="0"/>
                <a:cs typeface="Garamond"/>
              </a:rPr>
              <a:t>SYSTEM DESIGN - HIGH LEVEL DESIGN (HLD)</a:t>
            </a:r>
            <a:endParaRPr lang="zh-TW" altLang="en-US" sz="2800" b="1" spc="-5" dirty="0">
              <a:solidFill>
                <a:srgbClr val="843C0C"/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04FB3-9CCB-44B1-A070-0B983002E023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47945772-90E9-402D-9E70-C4CF4EC11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4" descr="M. S. Engineering College">
            <a:extLst>
              <a:ext uri="{FF2B5EF4-FFF2-40B4-BE49-F238E27FC236}">
                <a16:creationId xmlns:a16="http://schemas.microsoft.com/office/drawing/2014/main" id="{BE69B646-01D1-4E87-BE81-7AFB28110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44BED-1BAA-44B3-9204-730FAF209E1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79500"/>
            <a:ext cx="111760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854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8" descr="hh.PNG">
            <a:extLst>
              <a:ext uri="{FF2B5EF4-FFF2-40B4-BE49-F238E27FC236}">
                <a16:creationId xmlns:a16="http://schemas.microsoft.com/office/drawing/2014/main" id="{9BECC3B2-56B9-44C4-AA20-6DB26777D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7" descr="2276.PNG">
            <a:extLst>
              <a:ext uri="{FF2B5EF4-FFF2-40B4-BE49-F238E27FC236}">
                <a16:creationId xmlns:a16="http://schemas.microsoft.com/office/drawing/2014/main" id="{7F54BEFE-68F2-4850-8A24-00A6D5738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72CDA84-9498-407E-80F1-98390D18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2800" b="1" spc="-5">
                <a:solidFill>
                  <a:srgbClr val="843C0C"/>
                </a:solidFill>
                <a:latin typeface="Footlight MT Light" pitchFamily="18" charset="0"/>
                <a:cs typeface="Garamond"/>
              </a:rPr>
              <a:t>SYSTEM DESIGN - LOW LEVEL DESIGN (LLD)</a:t>
            </a:r>
            <a:endParaRPr lang="zh-TW" altLang="en-US" sz="2800" b="1" spc="-5" dirty="0">
              <a:solidFill>
                <a:srgbClr val="843C0C"/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04FB3-9CCB-44B1-A070-0B983002E023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47945772-90E9-402D-9E70-C4CF4EC11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14" descr="M. S. Engineering College">
            <a:extLst>
              <a:ext uri="{FF2B5EF4-FFF2-40B4-BE49-F238E27FC236}">
                <a16:creationId xmlns:a16="http://schemas.microsoft.com/office/drawing/2014/main" id="{BE69B646-01D1-4E87-BE81-7AFB28110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E58C0B-C9C4-426F-A4BA-F0EF2DF862B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79500"/>
            <a:ext cx="111760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0423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8" descr="hh.PNG">
            <a:extLst>
              <a:ext uri="{FF2B5EF4-FFF2-40B4-BE49-F238E27FC236}">
                <a16:creationId xmlns:a16="http://schemas.microsoft.com/office/drawing/2014/main" id="{18044308-3B53-4C7E-8A95-0DD61D5CA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7" descr="2276.PNG">
            <a:extLst>
              <a:ext uri="{FF2B5EF4-FFF2-40B4-BE49-F238E27FC236}">
                <a16:creationId xmlns:a16="http://schemas.microsoft.com/office/drawing/2014/main" id="{53BA8792-9635-4B2D-9781-9F5276065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ABD4664-1401-475D-9FCA-7F8A733A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IMPLEMENTATION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03969-FA90-4084-ACAE-2464850C3A06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A108AC7D-ED8A-4F11-A3A7-51E5AC1AC5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14" descr="M. S. Engineering College">
            <a:extLst>
              <a:ext uri="{FF2B5EF4-FFF2-40B4-BE49-F238E27FC236}">
                <a16:creationId xmlns:a16="http://schemas.microsoft.com/office/drawing/2014/main" id="{5FCE65C2-FCC9-4B06-8E42-A4E911815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4E0C0B-971B-48FD-B522-F47EFA8E69AB}"/>
              </a:ext>
            </a:extLst>
          </p:cNvPr>
          <p:cNvSpPr txBox="1"/>
          <p:nvPr/>
        </p:nvSpPr>
        <p:spPr>
          <a:xfrm>
            <a:off x="635000" y="1079500"/>
            <a:ext cx="10922000" cy="20467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IN" sz="1350" b="1">
                <a:solidFill>
                  <a:srgbClr val="0070C0"/>
                </a:solidFill>
                <a:latin typeface="Calibri" panose="020F0502020204030204" pitchFamily="34" charset="0"/>
              </a:rPr>
              <a:t>•  Module 1: Blockchain &amp; Smart Contract Tier:</a:t>
            </a:r>
            <a:r>
              <a:rPr lang="en-IN" sz="1350">
                <a:solidFill>
                  <a:srgbClr val="222222"/>
                </a:solidFill>
                <a:latin typeface="Calibri" panose="020F0502020204030204" pitchFamily="34" charset="0"/>
              </a:rPr>
              <a:t> Implemented in Solidity 0.8.24 using Hardhat &amp; OpenZeppelin. Enforces AccessControl roles (DEFAULT_ADMIN_ROLE, EMPLOYER_ROLE), mints ERC-721 badges, and stores JobRecord mappings on Cancun EVM.
</a:t>
            </a:r>
            <a:r>
              <a:rPr lang="en-IN" sz="1350" b="1">
                <a:solidFill>
                  <a:srgbClr val="0070C0"/>
                </a:solidFill>
                <a:latin typeface="Calibri" panose="020F0502020204030204" pitchFamily="34" charset="0"/>
              </a:rPr>
              <a:t>•  Module 2: AI Fraud Detection Microservice:</a:t>
            </a:r>
            <a:r>
              <a:rPr lang="en-IN" sz="1350">
                <a:solidFill>
                  <a:srgbClr val="222222"/>
                </a:solidFill>
                <a:latin typeface="Calibri" panose="020F0502020204030204" pitchFamily="34" charset="0"/>
              </a:rPr>
              <a:t> Engineered in Python with FastAPI &amp; Scikit-learn. Implements TF-IDF vectorization (1-2 ngrams, 500 features), Logistic Regression classification, and dynamic mismatch risk calibration at /predict.
</a:t>
            </a:r>
            <a:r>
              <a:rPr lang="en-IN" sz="1350" b="1">
                <a:solidFill>
                  <a:srgbClr val="0070C0"/>
                </a:solidFill>
                <a:latin typeface="Calibri" panose="020F0502020204030204" pitchFamily="34" charset="0"/>
              </a:rPr>
              <a:t>•  Module 3: REST API Gateway &amp; Resume Parser:</a:t>
            </a:r>
            <a:r>
              <a:rPr lang="en-IN" sz="1350">
                <a:solidFill>
                  <a:srgbClr val="222222"/>
                </a:solidFill>
                <a:latin typeface="Calibri" panose="020F0502020204030204" pitchFamily="34" charset="0"/>
              </a:rPr>
              <a:t> Built in Node.js &amp; Express with TypeScript. Integrates Multer for memory buffers, pdfjs-dist for text extraction, Ethers.js v6 for RPC communication, and rate limiting.
</a:t>
            </a:r>
            <a:r>
              <a:rPr lang="en-IN" sz="1350" b="1">
                <a:solidFill>
                  <a:srgbClr val="0070C0"/>
                </a:solidFill>
                <a:latin typeface="Calibri" panose="020F0502020204030204" pitchFamily="34" charset="0"/>
              </a:rPr>
              <a:t>•  Module 4: Web3 Frontend Client Portal:</a:t>
            </a:r>
            <a:r>
              <a:rPr lang="en-IN" sz="1350">
                <a:solidFill>
                  <a:srgbClr val="222222"/>
                </a:solidFill>
                <a:latin typeface="Calibri" panose="020F0502020204030204" pitchFamily="34" charset="0"/>
              </a:rPr>
              <a:t> Crafted with Next.js 14, React 18, and TailwindCSS. Connects MetaMask via window.ethereum, provides reactive drag-and-drop PDF upload, and renders interactive risk meters.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8" descr="hh.PNG">
            <a:extLst>
              <a:ext uri="{FF2B5EF4-FFF2-40B4-BE49-F238E27FC236}">
                <a16:creationId xmlns:a16="http://schemas.microsoft.com/office/drawing/2014/main" id="{18044308-3B53-4C7E-8A95-0DD61D5CA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7" descr="2276.PNG">
            <a:extLst>
              <a:ext uri="{FF2B5EF4-FFF2-40B4-BE49-F238E27FC236}">
                <a16:creationId xmlns:a16="http://schemas.microsoft.com/office/drawing/2014/main" id="{53BA8792-9635-4B2D-9781-9F5276065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ABD4664-1401-475D-9FCA-7F8A733A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2800" b="1" spc="-5">
                <a:solidFill>
                  <a:srgbClr val="843C0C"/>
                </a:solidFill>
                <a:latin typeface="Footlight MT Light" pitchFamily="18" charset="0"/>
                <a:cs typeface="Garamond"/>
              </a:rPr>
              <a:t>IMPLEMENTATION - SYSTEM WORKFLOW &amp; FLOWCHART</a:t>
            </a:r>
            <a:endParaRPr lang="zh-TW" altLang="en-US" sz="2800" b="1" spc="-5" dirty="0">
              <a:solidFill>
                <a:srgbClr val="843C0C"/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203969-FA90-4084-ACAE-2464850C3A06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A108AC7D-ED8A-4F11-A3A7-51E5AC1AC5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14" descr="M. S. Engineering College">
            <a:extLst>
              <a:ext uri="{FF2B5EF4-FFF2-40B4-BE49-F238E27FC236}">
                <a16:creationId xmlns:a16="http://schemas.microsoft.com/office/drawing/2014/main" id="{5FCE65C2-FCC9-4B06-8E42-A4E911815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023676-8029-4009-ABB2-B720BA0F409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79500"/>
            <a:ext cx="111760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5631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8" descr="hh.PNG">
            <a:extLst>
              <a:ext uri="{FF2B5EF4-FFF2-40B4-BE49-F238E27FC236}">
                <a16:creationId xmlns:a16="http://schemas.microsoft.com/office/drawing/2014/main" id="{42BFF314-A097-48A4-8037-A28ACB97A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7" descr="2276.PNG">
            <a:extLst>
              <a:ext uri="{FF2B5EF4-FFF2-40B4-BE49-F238E27FC236}">
                <a16:creationId xmlns:a16="http://schemas.microsoft.com/office/drawing/2014/main" id="{42210345-3620-4AC5-9272-BDD690432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5AC4DBE-FABB-417C-8A34-89E2520E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TESTING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042A34-F855-495E-A0F4-A698B16867E2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9889BF6E-6084-4F5F-8C69-864CC2F585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3" name="Picture 14" descr="M. S. Engineering College">
            <a:extLst>
              <a:ext uri="{FF2B5EF4-FFF2-40B4-BE49-F238E27FC236}">
                <a16:creationId xmlns:a16="http://schemas.microsoft.com/office/drawing/2014/main" id="{2D11AC4D-D36C-44CF-A94A-0083ABD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7AC4ED-E30B-4A9C-96C5-E271CC151E73}"/>
              </a:ext>
            </a:extLst>
          </p:cNvPr>
          <p:cNvSpPr txBox="1"/>
          <p:nvPr/>
        </p:nvSpPr>
        <p:spPr>
          <a:xfrm>
            <a:off x="635000" y="1079500"/>
            <a:ext cx="10922000" cy="20467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Tier 1: Smart Contract Unit Tests (Hardhat):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Validated admin delegation, employer authorization, date range bounds, empty details rejection, and ERC-721 minting (6/6 passing in 2.3s).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Tier 2: Backend API Validation Tests (Node.js):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Verified EVM wallet regex sanitization, input string trimming, and Unix timestamp integer bounds (6/6 passing).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Tier 3: Machine Learning Model Evaluation: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Tested against 46 curated real-world resumes (25 legitimate software/finance/healthcare vs. 21 fraudulent impossible timeline/keyword stuffing resumes); achieved 100% test case classification accuracy.
</a:t>
            </a:r>
            <a:r>
              <a:rPr lang="en-US" sz="1350" b="1">
                <a:solidFill>
                  <a:srgbClr val="0070C0"/>
                </a:solidFill>
                <a:latin typeface="Calibri" panose="020F0502020204030204" pitchFamily="34" charset="0"/>
              </a:rPr>
              <a:t>•  Tier 4: Automated End-to-End Suite (Playwright):</a:t>
            </a:r>
            <a:r>
              <a:rPr lang="en-US" sz="1350">
                <a:solidFill>
                  <a:srgbClr val="222222"/>
                </a:solidFill>
                <a:latin typeface="Calibri" panose="020F0502020204030204" pitchFamily="34" charset="0"/>
              </a:rPr>
              <a:t> Executed 5 automated browser scenarios: UI render, PDF upload, multipart scan, on-chain employer verification, and updated scan verification (5/5 passed in 26.3s).</a:t>
            </a:r>
            <a:endParaRPr lang="en-IN" sz="135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8" descr="hh.PNG">
            <a:extLst>
              <a:ext uri="{FF2B5EF4-FFF2-40B4-BE49-F238E27FC236}">
                <a16:creationId xmlns:a16="http://schemas.microsoft.com/office/drawing/2014/main" id="{D27DDF1B-43B3-49BA-8675-913A64DAD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7" descr="2276.PNG">
            <a:extLst>
              <a:ext uri="{FF2B5EF4-FFF2-40B4-BE49-F238E27FC236}">
                <a16:creationId xmlns:a16="http://schemas.microsoft.com/office/drawing/2014/main" id="{6CAB03B4-D55B-47A3-8FD7-A21E0DDD9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49B6FBA-7617-459A-B55B-D2B9AB512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cs typeface="Garamond"/>
              </a:rPr>
              <a:t>CONCLUSION</a:t>
            </a:r>
            <a:endParaRPr lang="zh-TW" altLang="en-US" sz="3600" b="1" spc="-5" dirty="0">
              <a:solidFill>
                <a:schemeClr val="accent2">
                  <a:lumMod val="50000"/>
                </a:schemeClr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59C58-B0BD-4BFD-84E5-BF0F4BD50127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1D1ADCC5-A7A3-48CD-8EBE-4301D03F11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7" name="Picture 14" descr="M. S. Engineering College">
            <a:extLst>
              <a:ext uri="{FF2B5EF4-FFF2-40B4-BE49-F238E27FC236}">
                <a16:creationId xmlns:a16="http://schemas.microsoft.com/office/drawing/2014/main" id="{3C528433-C9B3-410A-B4BD-DAAD7B5FA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47809D-D8C4-4BFB-A856-44C9BB73ED10}"/>
              </a:ext>
            </a:extLst>
          </p:cNvPr>
          <p:cNvSpPr txBox="1"/>
          <p:nvPr/>
        </p:nvSpPr>
        <p:spPr>
          <a:xfrm>
            <a:off x="635000" y="1079500"/>
            <a:ext cx="10922000" cy="24288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lang="en-IN" sz="1300" b="1">
                <a:solidFill>
                  <a:srgbClr val="0070C0"/>
                </a:solidFill>
                <a:latin typeface="Calibri" panose="020F0502020204030204" pitchFamily="34" charset="0"/>
              </a:rPr>
              <a:t>•  Advantages of Proposed System:</a:t>
            </a:r>
            <a:r>
              <a:rPr lang="en-IN" sz="1300">
                <a:solidFill>
                  <a:srgbClr val="222222"/>
                </a:solidFill>
                <a:latin typeface="Calibri" panose="020F0502020204030204" pitchFamily="34" charset="0"/>
              </a:rPr>
              <a:t> 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Sub-Second Verification: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Reduces background verification latency from 21 days down to instantaneous cryptographic RPC queries.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Mathematical Proof of Authenticity: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Cryptographically impossible for candidates to forge employer-signed smart contract records.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Zero Intermediary Expenses: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Eliminates recurrent corporate subscriptions to third-party verification agencies.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Future Enhancements: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Zero-Knowledge Proofs (ZK-SNARKs):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Enable privacy-preserving verification (e.g. proof of minimum tenure without disclosing exact dates or confidential employer projects).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Decentralized Identifiers (W3C DID):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Standardize credentials for interoperability across global sovereign identity networks.
</a:t>
            </a:r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•  Layer-2 Rollup Deployment:</a:t>
            </a:r>
            <a:r>
              <a:rPr lang="en-US" sz="1300">
                <a:solidFill>
                  <a:srgbClr val="222222"/>
                </a:solidFill>
                <a:latin typeface="Calibri" panose="020F0502020204030204" pitchFamily="34" charset="0"/>
              </a:rPr>
              <a:t> Deploy contracts onto Arbitrum or Polygon for near-zero transaction gas fees.</a:t>
            </a:r>
            <a:endParaRPr lang="en-IN" sz="13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8" descr="hh.PNG">
            <a:extLst>
              <a:ext uri="{FF2B5EF4-FFF2-40B4-BE49-F238E27FC236}">
                <a16:creationId xmlns:a16="http://schemas.microsoft.com/office/drawing/2014/main" id="{D27DDF1B-43B3-49BA-8675-913A64DAD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7" descr="2276.PNG">
            <a:extLst>
              <a:ext uri="{FF2B5EF4-FFF2-40B4-BE49-F238E27FC236}">
                <a16:creationId xmlns:a16="http://schemas.microsoft.com/office/drawing/2014/main" id="{6CAB03B4-D55B-47A3-8FD7-A21E0DDD9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49B6FBA-7617-459A-B55B-D2B9AB512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2800" b="1" spc="-5">
                <a:solidFill>
                  <a:srgbClr val="843C0C"/>
                </a:solidFill>
                <a:latin typeface="Footlight MT Light" pitchFamily="18" charset="0"/>
                <a:cs typeface="Garamond"/>
              </a:rPr>
              <a:t>PROJECT OVERVIEW &amp; TRUST ECOSYSTEM</a:t>
            </a:r>
            <a:endParaRPr lang="zh-TW" altLang="en-US" sz="2800" b="1" spc="-5" dirty="0">
              <a:solidFill>
                <a:srgbClr val="843C0C"/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59C58-B0BD-4BFD-84E5-BF0F4BD50127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1D1ADCC5-A7A3-48CD-8EBE-4301D03F11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7" name="Picture 14" descr="M. S. Engineering College">
            <a:extLst>
              <a:ext uri="{FF2B5EF4-FFF2-40B4-BE49-F238E27FC236}">
                <a16:creationId xmlns:a16="http://schemas.microsoft.com/office/drawing/2014/main" id="{3C528433-C9B3-410A-B4BD-DAAD7B5FA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12B854-E052-4DD9-8D38-90769D4DAD2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79500"/>
            <a:ext cx="11176000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1460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8" descr="hh.PNG">
            <a:extLst>
              <a:ext uri="{FF2B5EF4-FFF2-40B4-BE49-F238E27FC236}">
                <a16:creationId xmlns:a16="http://schemas.microsoft.com/office/drawing/2014/main" id="{1FA97DBA-5DAD-4017-BFAE-72D293623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7" descr="2276.PNG">
            <a:extLst>
              <a:ext uri="{FF2B5EF4-FFF2-40B4-BE49-F238E27FC236}">
                <a16:creationId xmlns:a16="http://schemas.microsoft.com/office/drawing/2014/main" id="{EC5587A4-4245-4207-87C4-0F355CD05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C53735F-A680-45C1-902A-05656F95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2800" b="1" spc="-5">
                <a:solidFill>
                  <a:srgbClr val="843C0C"/>
                </a:solidFill>
                <a:latin typeface="Footlight MT Light" pitchFamily="18" charset="0"/>
                <a:cs typeface="Garamond"/>
              </a:rPr>
              <a:t>SCREENSHOTS - DASHBOARD &amp; RESUME SCANNER</a:t>
            </a:r>
            <a:endParaRPr lang="zh-TW" altLang="en-US" sz="2800" b="1" spc="-5" dirty="0">
              <a:solidFill>
                <a:srgbClr val="843C0C"/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730A60-FCF7-424D-B8A1-32259E4B42D0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C48CAC3C-8AF3-4216-A835-615F2E15C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1" name="Picture 14" descr="M. S. Engineering College">
            <a:extLst>
              <a:ext uri="{FF2B5EF4-FFF2-40B4-BE49-F238E27FC236}">
                <a16:creationId xmlns:a16="http://schemas.microsoft.com/office/drawing/2014/main" id="{BB0B7B08-EF93-4BE9-B7F2-44ED3895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074201-A49D-4A1A-9F2B-AD283BB54E1A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06500"/>
            <a:ext cx="5397500" cy="3619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2391F5-3F81-4315-BF74-1D96DEA78B44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206500"/>
            <a:ext cx="5397500" cy="3619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0C24B5-C8A9-4401-8AA2-E023296274D5}"/>
              </a:ext>
            </a:extLst>
          </p:cNvPr>
          <p:cNvSpPr txBox="1"/>
          <p:nvPr/>
        </p:nvSpPr>
        <p:spPr>
          <a:xfrm>
            <a:off x="508000" y="4927600"/>
            <a:ext cx="5397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Figure 1: BlockCredAI Main Web3 Dashboard &amp; Wallet Connect</a:t>
            </a:r>
            <a:endParaRPr lang="en-IN" sz="1300" b="1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A91B2-DEDC-47F3-9C27-60B434CE4D0E}"/>
              </a:ext>
            </a:extLst>
          </p:cNvPr>
          <p:cNvSpPr txBox="1"/>
          <p:nvPr/>
        </p:nvSpPr>
        <p:spPr>
          <a:xfrm>
            <a:off x="6223000" y="4927600"/>
            <a:ext cx="5397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Figure 2: Candidate Resume Upload &amp; Claim Verification Interface</a:t>
            </a:r>
            <a:endParaRPr lang="en-IN" sz="1300" b="1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38" descr="hh.PNG">
            <a:extLst>
              <a:ext uri="{FF2B5EF4-FFF2-40B4-BE49-F238E27FC236}">
                <a16:creationId xmlns:a16="http://schemas.microsoft.com/office/drawing/2014/main" id="{1FA97DBA-5DAD-4017-BFAE-72D293623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7" descr="2276.PNG">
            <a:extLst>
              <a:ext uri="{FF2B5EF4-FFF2-40B4-BE49-F238E27FC236}">
                <a16:creationId xmlns:a16="http://schemas.microsoft.com/office/drawing/2014/main" id="{EC5587A4-4245-4207-87C4-0F355CD05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C53735F-A680-45C1-902A-05656F95C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71438"/>
            <a:ext cx="12161838" cy="717550"/>
          </a:xfrm>
        </p:spPr>
        <p:txBody>
          <a:bodyPr>
            <a:noAutofit/>
          </a:bodyPr>
          <a:lstStyle/>
          <a:p>
            <a:pPr marL="12699" algn="ctr" eaLnBrk="1" fontAlgn="auto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/>
            </a:pPr>
            <a:r>
              <a:rPr lang="en-US" altLang="zh-TW" sz="2800" b="1" spc="-5">
                <a:solidFill>
                  <a:srgbClr val="843C0C"/>
                </a:solidFill>
                <a:latin typeface="Footlight MT Light" pitchFamily="18" charset="0"/>
                <a:cs typeface="Garamond"/>
              </a:rPr>
              <a:t>SCREENSHOTS - AI FRAUD DETECTION &amp; VERIFICATION RESULTS</a:t>
            </a:r>
            <a:endParaRPr lang="zh-TW" altLang="en-US" sz="2800" b="1" spc="-5" dirty="0">
              <a:solidFill>
                <a:srgbClr val="843C0C"/>
              </a:solidFill>
              <a:latin typeface="Footlight MT Light" pitchFamily="18" charset="0"/>
              <a:cs typeface="Garamond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730A60-FCF7-424D-B8A1-32259E4B42D0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pic>
        <p:nvPicPr>
          <p:cNvPr id="3" name="Picture 10" descr="vtu logo 1.jpg">
            <a:extLst>
              <a:ext uri="{FF2B5EF4-FFF2-40B4-BE49-F238E27FC236}">
                <a16:creationId xmlns:a16="http://schemas.microsoft.com/office/drawing/2014/main" id="{C48CAC3C-8AF3-4216-A835-615F2E15CF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1" name="Picture 14" descr="M. S. Engineering College">
            <a:extLst>
              <a:ext uri="{FF2B5EF4-FFF2-40B4-BE49-F238E27FC236}">
                <a16:creationId xmlns:a16="http://schemas.microsoft.com/office/drawing/2014/main" id="{BB0B7B08-EF93-4BE9-B7F2-44ED3895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74569-0E43-44AE-B124-1B3DB140CC3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06500"/>
            <a:ext cx="5397500" cy="3619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BF33B2-F86A-4D1F-96F6-768E708E1CDC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206500"/>
            <a:ext cx="5397500" cy="3619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CBA0A8-40D5-4C69-AD7D-841C3A6E226D}"/>
              </a:ext>
            </a:extLst>
          </p:cNvPr>
          <p:cNvSpPr txBox="1"/>
          <p:nvPr/>
        </p:nvSpPr>
        <p:spPr>
          <a:xfrm>
            <a:off x="508000" y="4927600"/>
            <a:ext cx="5397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Figure 3: AI Fraud Risk Gauge &amp; Verified On-Chain Badges (0% Risk)</a:t>
            </a:r>
            <a:endParaRPr lang="en-IN" sz="1300" b="1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BFC1F-1D6F-464B-99CB-47224599789B}"/>
              </a:ext>
            </a:extLst>
          </p:cNvPr>
          <p:cNvSpPr txBox="1"/>
          <p:nvPr/>
        </p:nvSpPr>
        <p:spPr>
          <a:xfrm>
            <a:off x="6223000" y="4927600"/>
            <a:ext cx="53975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300" b="1">
                <a:solidFill>
                  <a:srgbClr val="0070C0"/>
                </a:solidFill>
                <a:latin typeface="Calibri" panose="020F0502020204030204" pitchFamily="34" charset="0"/>
              </a:rPr>
              <a:t>Figure 4: Automated End-to-End Verification &amp; Smart Contract State</a:t>
            </a:r>
            <a:endParaRPr lang="en-IN" sz="1300" b="1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38983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8" descr="hh.PNG">
            <a:extLst>
              <a:ext uri="{FF2B5EF4-FFF2-40B4-BE49-F238E27FC236}">
                <a16:creationId xmlns:a16="http://schemas.microsoft.com/office/drawing/2014/main" id="{042A41CB-BE19-4CB9-8BF1-B323F0691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7" descr="2276.PNG">
            <a:extLst>
              <a:ext uri="{FF2B5EF4-FFF2-40B4-BE49-F238E27FC236}">
                <a16:creationId xmlns:a16="http://schemas.microsoft.com/office/drawing/2014/main" id="{EB25F520-254E-4EBA-B791-D02B6DC1A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89B3E3-19F6-453D-A7A8-C913C745165D}"/>
              </a:ext>
            </a:extLst>
          </p:cNvPr>
          <p:cNvSpPr/>
          <p:nvPr/>
        </p:nvSpPr>
        <p:spPr>
          <a:xfrm>
            <a:off x="0" y="6169661"/>
            <a:ext cx="12192000" cy="400101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  <a:p>
            <a:pPr algn="ctr" eaLnBrk="1" hangingPunct="1">
              <a:defRPr/>
            </a:pPr>
            <a:endParaRPr lang="en-US" altLang="en-US" sz="1000" b="1" i="1" dirty="0">
              <a:solidFill>
                <a:srgbClr val="843C0C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3B6B88F-3CA0-4422-B953-3994FF739F8D}"/>
              </a:ext>
            </a:extLst>
          </p:cNvPr>
          <p:cNvSpPr txBox="1">
            <a:spLocks/>
          </p:cNvSpPr>
          <p:nvPr/>
        </p:nvSpPr>
        <p:spPr>
          <a:xfrm>
            <a:off x="533400" y="177800"/>
            <a:ext cx="10277475" cy="525463"/>
          </a:xfrm>
          <a:prstGeom prst="rect">
            <a:avLst/>
          </a:prstGeom>
        </p:spPr>
        <p:txBody>
          <a:bodyPr lIns="91432" tIns="45716" rIns="91432" bIns="45716"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ea typeface="+mj-ea"/>
                <a:cs typeface="Garamond"/>
              </a:rPr>
              <a:t>Authors Publications </a:t>
            </a:r>
          </a:p>
        </p:txBody>
      </p:sp>
      <p:sp>
        <p:nvSpPr>
          <p:cNvPr id="19464" name="Rectangle 2">
            <a:extLst>
              <a:ext uri="{FF2B5EF4-FFF2-40B4-BE49-F238E27FC236}">
                <a16:creationId xmlns:a16="http://schemas.microsoft.com/office/drawing/2014/main" id="{65169679-B2AD-4BB2-9289-30F97A4DB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145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6" rIns="91432" bIns="4571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" name="Picture 10" descr="vtu logo 1.jpg">
            <a:extLst>
              <a:ext uri="{FF2B5EF4-FFF2-40B4-BE49-F238E27FC236}">
                <a16:creationId xmlns:a16="http://schemas.microsoft.com/office/drawing/2014/main" id="{30AA31E4-57FD-436C-BBDA-A34D1CEFAD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7" name="Picture 14" descr="M. S. Engineering College">
            <a:extLst>
              <a:ext uri="{FF2B5EF4-FFF2-40B4-BE49-F238E27FC236}">
                <a16:creationId xmlns:a16="http://schemas.microsoft.com/office/drawing/2014/main" id="{75B89655-E50B-4D71-A0A9-C9C38921D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7544AA-F94D-457C-A7AE-79E3930D62C0}"/>
              </a:ext>
            </a:extLst>
          </p:cNvPr>
          <p:cNvSpPr txBox="1"/>
          <p:nvPr/>
        </p:nvSpPr>
        <p:spPr>
          <a:xfrm>
            <a:off x="635000" y="1079500"/>
            <a:ext cx="10922000" cy="20390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IN" sz="1250" b="1">
                <a:solidFill>
                  <a:srgbClr val="0070C0"/>
                </a:solidFill>
                <a:latin typeface="Calibri" panose="020F0502020204030204" pitchFamily="34" charset="0"/>
              </a:rPr>
              <a:t>•  1. Conference Paper:</a:t>
            </a:r>
            <a:r>
              <a:rPr lang="en-IN" sz="1250">
                <a:solidFill>
                  <a:srgbClr val="222222"/>
                </a:solidFill>
                <a:latin typeface="Calibri" panose="020F0502020204030204" pitchFamily="34" charset="0"/>
              </a:rPr>
              <a:t> Aditya Kumar, Rajeev Ranjan, Saurabh, Saurabh Kumar, 'BlockCredAI: A Dual-Layer Decentralized Framework Fusing EVM Smart Contracts and NLP for Automated Resume Fraud Detection', submitted to IEEE International Conference on Advances in Computing, Communication and Control (ICAC3), 2026.
</a:t>
            </a:r>
            <a:r>
              <a:rPr lang="en-IN" sz="1250" b="1">
                <a:solidFill>
                  <a:srgbClr val="0070C0"/>
                </a:solidFill>
                <a:latin typeface="Calibri" panose="020F0502020204030204" pitchFamily="34" charset="0"/>
              </a:rPr>
              <a:t>•  2. Survey-Driven Novelty &amp; Benchmarking:</a:t>
            </a:r>
            <a:r>
              <a:rPr lang="en-IN" sz="1250">
                <a:solidFill>
                  <a:srgbClr val="222222"/>
                </a:solidFill>
                <a:latin typeface="Calibri" panose="020F0502020204030204" pitchFamily="34" charset="0"/>
              </a:rPr>
              <a:t> Directly addresses research gaps identified in IEEE literature surveys: extends ElimuChain [1] and Cerberus [2] by introducing dynamic ERC-721 Soulbound employment records, resolves Sakib et al. [3] via automated PDF parsing, and unites Habib et al. [4] NLP classification with zero-trust blockchain verification.
</a:t>
            </a:r>
            <a:r>
              <a:rPr lang="en-IN" sz="1250" b="1">
                <a:solidFill>
                  <a:srgbClr val="0070C0"/>
                </a:solidFill>
                <a:latin typeface="Calibri" panose="020F0502020204030204" pitchFamily="34" charset="0"/>
              </a:rPr>
              <a:t>•  3. Institutional Affiliation:</a:t>
            </a:r>
            <a:r>
              <a:rPr lang="en-IN" sz="1250">
                <a:solidFill>
                  <a:srgbClr val="222222"/>
                </a:solidFill>
                <a:latin typeface="Calibri" panose="020F0502020204030204" pitchFamily="34" charset="0"/>
              </a:rPr>
              <a:t> Department of Information Science &amp; Engineering, M S Engineering College, Bengaluru - 562157, Affiliated to Visvesvaraya Technological University (VTU), Belagavi, Karnataka, India.
</a:t>
            </a:r>
            <a:r>
              <a:rPr lang="en-IN" sz="1250" b="1">
                <a:solidFill>
                  <a:srgbClr val="0070C0"/>
                </a:solidFill>
                <a:latin typeface="Calibri" panose="020F0502020204030204" pitchFamily="34" charset="0"/>
              </a:rPr>
              <a:t>•  4. Open-Source Artifact &amp; Reproducibility:</a:t>
            </a:r>
            <a:r>
              <a:rPr lang="en-IN" sz="1250">
                <a:solidFill>
                  <a:srgbClr val="222222"/>
                </a:solidFill>
                <a:latin typeface="Calibri" panose="020F0502020204030204" pitchFamily="34" charset="0"/>
              </a:rPr>
              <a:t> Full implementation codebase, Hardhat smart contracts, FastAPI AI microservice, Next.js frontend, and the 46-resume validation benchmark dataset released publicly at: https://github.com/SaurabhForge/BlockCredAI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8" descr="hh.PNG">
            <a:extLst>
              <a:ext uri="{FF2B5EF4-FFF2-40B4-BE49-F238E27FC236}">
                <a16:creationId xmlns:a16="http://schemas.microsoft.com/office/drawing/2014/main" id="{DAA8EE1A-332E-4CB2-9B69-41934A785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4575"/>
            <a:ext cx="121920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7" descr="2276.PNG">
            <a:extLst>
              <a:ext uri="{FF2B5EF4-FFF2-40B4-BE49-F238E27FC236}">
                <a16:creationId xmlns:a16="http://schemas.microsoft.com/office/drawing/2014/main" id="{DEA3F67B-0A51-4F28-9C59-6D581315A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722D64-894B-4E86-A9DD-1A2BB6D63525}"/>
              </a:ext>
            </a:extLst>
          </p:cNvPr>
          <p:cNvSpPr/>
          <p:nvPr/>
        </p:nvSpPr>
        <p:spPr>
          <a:xfrm>
            <a:off x="0" y="6169661"/>
            <a:ext cx="12192000" cy="24621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32" tIns="45716" rIns="91432" bIns="457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 i="1" dirty="0">
                <a:solidFill>
                  <a:srgbClr val="843C0C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Department of Information Science &amp; Engineering, M S Engineering College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FB15483-E4E5-4540-A714-CAC74191B6DB}"/>
              </a:ext>
            </a:extLst>
          </p:cNvPr>
          <p:cNvSpPr txBox="1">
            <a:spLocks/>
          </p:cNvSpPr>
          <p:nvPr/>
        </p:nvSpPr>
        <p:spPr>
          <a:xfrm>
            <a:off x="957263" y="177800"/>
            <a:ext cx="10277475" cy="525463"/>
          </a:xfrm>
          <a:prstGeom prst="rect">
            <a:avLst/>
          </a:prstGeom>
        </p:spPr>
        <p:txBody>
          <a:bodyPr lIns="91432" tIns="45716" rIns="91432" bIns="45716"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TW" sz="3600" b="1" spc="-5" dirty="0">
                <a:solidFill>
                  <a:schemeClr val="accent2">
                    <a:lumMod val="50000"/>
                  </a:schemeClr>
                </a:solidFill>
                <a:latin typeface="Footlight MT Light" pitchFamily="18" charset="0"/>
                <a:ea typeface="+mj-ea"/>
                <a:cs typeface="Garamond"/>
              </a:rPr>
              <a:t>Reference </a:t>
            </a:r>
          </a:p>
        </p:txBody>
      </p:sp>
      <p:sp>
        <p:nvSpPr>
          <p:cNvPr id="20488" name="Rectangle 2">
            <a:extLst>
              <a:ext uri="{FF2B5EF4-FFF2-40B4-BE49-F238E27FC236}">
                <a16:creationId xmlns:a16="http://schemas.microsoft.com/office/drawing/2014/main" id="{089EE3B0-FFA1-4979-A8BC-F76571EB2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145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6" rIns="91432" bIns="45716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pic>
        <p:nvPicPr>
          <p:cNvPr id="2" name="Picture 10" descr="vtu logo 1.jpg">
            <a:extLst>
              <a:ext uri="{FF2B5EF4-FFF2-40B4-BE49-F238E27FC236}">
                <a16:creationId xmlns:a16="http://schemas.microsoft.com/office/drawing/2014/main" id="{7155067E-E5B1-4296-A3A4-267869E675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0076" y="0"/>
            <a:ext cx="810312" cy="756292"/>
          </a:xfrm>
          <a:prstGeom prst="flowChartConnector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1" name="Picture 14" descr="M. S. Engineering College">
            <a:extLst>
              <a:ext uri="{FF2B5EF4-FFF2-40B4-BE49-F238E27FC236}">
                <a16:creationId xmlns:a16="http://schemas.microsoft.com/office/drawing/2014/main" id="{E9F8ED3B-3F79-4A7F-BA38-637C8BA88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350" y="0"/>
            <a:ext cx="75565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4CE9CD-D900-4E5D-9338-5D0B96D1B963}"/>
              </a:ext>
            </a:extLst>
          </p:cNvPr>
          <p:cNvSpPr txBox="1"/>
          <p:nvPr/>
        </p:nvSpPr>
        <p:spPr>
          <a:xfrm>
            <a:off x="635000" y="1079500"/>
            <a:ext cx="10922000" cy="233140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1150" b="1">
                <a:solidFill>
                  <a:srgbClr val="0070C0"/>
                </a:solidFill>
                <a:latin typeface="Calibri" panose="020F0502020204030204" pitchFamily="34" charset="0"/>
              </a:rPr>
              <a:t>[1]</a:t>
            </a:r>
            <a:r>
              <a:rPr lang="en-IN" sz="1150">
                <a:solidFill>
                  <a:srgbClr val="222222"/>
                </a:solidFill>
                <a:latin typeface="Calibri" panose="020F0502020204030204" pitchFamily="34" charset="0"/>
              </a:rPr>
              <a:t>  S. H. Said, R. S. Sinde, E. M. Kosia, and M. A. Dida, 'A Comprehensive Blockchain-Based System for Educational Qualifications Management and Verification to Counter Forgery (ElimuChain),' IEEE Access, vol. 13, pp. 31562–31589, Feb. 2025.
</a:t>
            </a:r>
            <a:r>
              <a:rPr lang="en-IN" sz="1150" b="1">
                <a:solidFill>
                  <a:srgbClr val="0070C0"/>
                </a:solidFill>
                <a:latin typeface="Calibri" panose="020F0502020204030204" pitchFamily="34" charset="0"/>
              </a:rPr>
              <a:t>[2]</a:t>
            </a:r>
            <a:r>
              <a:rPr lang="en-IN" sz="1150">
                <a:solidFill>
                  <a:srgbClr val="222222"/>
                </a:solidFill>
                <a:latin typeface="Calibri" panose="020F0502020204030204" pitchFamily="34" charset="0"/>
              </a:rPr>
              <a:t>  A. Tariq, H. B. Haq, and S. T. Ali, 'Cerberus: A Blockchain-Based Accreditation and Degree Verification System,' IEEE Transactions on Computational Social Systems, vol. 11, no. 1, pp. 1125–1136, Feb. 2024.
</a:t>
            </a:r>
            <a:r>
              <a:rPr lang="en-IN" sz="1150" b="1">
                <a:solidFill>
                  <a:srgbClr val="0070C0"/>
                </a:solidFill>
                <a:latin typeface="Calibri" panose="020F0502020204030204" pitchFamily="34" charset="0"/>
              </a:rPr>
              <a:t>[3]</a:t>
            </a:r>
            <a:r>
              <a:rPr lang="en-IN" sz="1150">
                <a:solidFill>
                  <a:srgbClr val="222222"/>
                </a:solidFill>
                <a:latin typeface="Calibri" panose="020F0502020204030204" pitchFamily="34" charset="0"/>
              </a:rPr>
              <a:t>  S. A. Sakib, M. Rakib, M. M. Hossain, M. S. Islam, B. R. Khan, and M. S. Reza, 'Blockchain Based Certificate Verification for Employee Hiring &amp; Admission System,' in Proc. 26th IEEE International Conference on Computer and Information Technology (ICCIT), 2023, pp. 1–6.
</a:t>
            </a:r>
            <a:r>
              <a:rPr lang="en-IN" sz="1150" b="1">
                <a:solidFill>
                  <a:srgbClr val="0070C0"/>
                </a:solidFill>
                <a:latin typeface="Calibri" panose="020F0502020204030204" pitchFamily="34" charset="0"/>
              </a:rPr>
              <a:t>[4]</a:t>
            </a:r>
            <a:r>
              <a:rPr lang="en-IN" sz="1150">
                <a:solidFill>
                  <a:srgbClr val="222222"/>
                </a:solidFill>
                <a:latin typeface="Calibri" panose="020F0502020204030204" pitchFamily="34" charset="0"/>
              </a:rPr>
              <a:t>  A. K. M. N. Habib, M. S. Faruque, et al., 'Online Recruitment Fraud (ORF) Detection Using Machine Learning and Natural Language Processing Techniques,' IEEE Access, vol. 10, pp. 33120–33135, 2022.
</a:t>
            </a:r>
            <a:r>
              <a:rPr lang="en-US" sz="1150" b="1">
                <a:solidFill>
                  <a:srgbClr val="0070C0"/>
                </a:solidFill>
                <a:latin typeface="Calibri" panose="020F0502020204030204" pitchFamily="34" charset="0"/>
              </a:rPr>
              <a:t>[5]</a:t>
            </a:r>
            <a:r>
              <a:rPr lang="en-US" sz="1150">
                <a:solidFill>
                  <a:srgbClr val="222222"/>
                </a:solidFill>
                <a:latin typeface="Calibri" panose="020F0502020204030204" pitchFamily="34" charset="0"/>
              </a:rPr>
              <a:t>  S. K. Han, S. K. Sharma, and S. K. Sood, 'A Secure Academic and Employment Certificate Management System Using Blockchain Technology,' IEEE Access, vol. 10, pp. 45120–45133, 2022.
</a:t>
            </a:r>
            <a:r>
              <a:rPr lang="en-US" sz="1150" b="1">
                <a:solidFill>
                  <a:srgbClr val="0070C0"/>
                </a:solidFill>
                <a:latin typeface="Calibri" panose="020F0502020204030204" pitchFamily="34" charset="0"/>
              </a:rPr>
              <a:t>[6]</a:t>
            </a:r>
            <a:r>
              <a:rPr lang="en-US" sz="1150">
                <a:solidFill>
                  <a:srgbClr val="222222"/>
                </a:solidFill>
                <a:latin typeface="Calibri" panose="020F0502020204030204" pitchFamily="34" charset="0"/>
              </a:rPr>
              <a:t>  OpenZeppelin, 'ERC-721 Non-Fungible Token Standard Implementation v5.0,' OpenZeppelin Contracts, 2024.</a:t>
            </a:r>
            <a:endParaRPr lang="en-IN" sz="115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F7CFBEC6-6F42-491B-B49F-AB42198A8C82}"/>
              </a:ext>
            </a:extLst>
          </p:cNvPr>
          <p:cNvSpPr/>
          <p:nvPr/>
        </p:nvSpPr>
        <p:spPr>
          <a:xfrm>
            <a:off x="3215640" y="266701"/>
            <a:ext cx="5760720" cy="5760720"/>
          </a:xfrm>
          <a:prstGeom prst="ellipse">
            <a:avLst/>
          </a:prstGeom>
          <a:noFill/>
          <a:ln w="279400">
            <a:solidFill>
              <a:schemeClr val="accent4">
                <a:lumMod val="60000"/>
                <a:lumOff val="40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 eaLnBrk="1" hangingPunct="1">
              <a:defRPr/>
            </a:pPr>
            <a:r>
              <a:rPr lang="en-US" sz="4800" b="1" dirty="0">
                <a:solidFill>
                  <a:schemeClr val="accent4">
                    <a:lumMod val="50000"/>
                  </a:schemeClr>
                </a:solidFill>
                <a:latin typeface="Agency FB" pitchFamily="34" charset="0"/>
              </a:rPr>
              <a:t>Questions / Comments / Suggestions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34588-5AED-4244-922D-FF041D86ED00}"/>
              </a:ext>
            </a:extLst>
          </p:cNvPr>
          <p:cNvSpPr/>
          <p:nvPr/>
        </p:nvSpPr>
        <p:spPr>
          <a:xfrm>
            <a:off x="5289550" y="134938"/>
            <a:ext cx="1612900" cy="2400300"/>
          </a:xfrm>
          <a:prstGeom prst="rect">
            <a:avLst/>
          </a:prstGeom>
        </p:spPr>
        <p:txBody>
          <a:bodyPr lIns="91432" tIns="45716" rIns="91432" bIns="45716">
            <a:spAutoFit/>
          </a:bodyPr>
          <a:lstStyle/>
          <a:p>
            <a:pPr algn="ctr" eaLnBrk="1" hangingPunct="1">
              <a:defRPr/>
            </a:pPr>
            <a:r>
              <a:rPr lang="en-US" sz="15000" kern="0" dirty="0">
                <a:solidFill>
                  <a:srgbClr val="001F5F"/>
                </a:solidFill>
                <a:latin typeface="Footlight MT Light" pitchFamily="18" charset="0"/>
                <a:ea typeface="+mj-ea"/>
                <a:cs typeface="Arial"/>
              </a:rPr>
              <a:t>?</a:t>
            </a:r>
            <a:endParaRPr lang="en-US" sz="15000" dirty="0">
              <a:latin typeface="Footlight MT Light" pitchFamily="18" charset="0"/>
              <a:cs typeface="Arial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oogle Shape;171;p24">
            <a:extLst>
              <a:ext uri="{FF2B5EF4-FFF2-40B4-BE49-F238E27FC236}">
                <a16:creationId xmlns:a16="http://schemas.microsoft.com/office/drawing/2014/main" id="{E684A5AF-4A1D-4857-A431-8971D5E6F0C1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7236619" y="-216694"/>
            <a:ext cx="3138488" cy="4352925"/>
            <a:chOff x="-59952" y="195486"/>
            <a:chExt cx="3386724" cy="4940364"/>
          </a:xfrm>
        </p:grpSpPr>
        <p:pic>
          <p:nvPicPr>
            <p:cNvPr id="78863" name="Google Shape;172;p24" descr="E:\002-KIMS BUSINESS\007-02-Fullslidesppt-Contents\20161219\02-abs\flower-item01.png">
              <a:extLst>
                <a:ext uri="{FF2B5EF4-FFF2-40B4-BE49-F238E27FC236}">
                  <a16:creationId xmlns:a16="http://schemas.microsoft.com/office/drawing/2014/main" id="{8A90E17E-5872-435A-9CFF-90AA8E9C4114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/>
            </a:blip>
            <a:srcRect/>
            <a:stretch>
              <a:fillRect/>
            </a:stretch>
          </p:blipFill>
          <p:spPr bwMode="auto">
            <a:xfrm>
              <a:off x="1784098" y="3161022"/>
              <a:ext cx="853097" cy="823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8864" name="Google Shape;173;p24" descr="E:\002-KIMS BUSINESS\007-02-Fullslidesppt-Contents\20161219\02-abs\flower-item01.png">
              <a:extLst>
                <a:ext uri="{FF2B5EF4-FFF2-40B4-BE49-F238E27FC236}">
                  <a16:creationId xmlns:a16="http://schemas.microsoft.com/office/drawing/2014/main" id="{B1B7D6D6-938F-4B1B-91E2-29B90C6C0708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/>
            </a:blip>
            <a:srcRect/>
            <a:stretch>
              <a:fillRect/>
            </a:stretch>
          </p:blipFill>
          <p:spPr bwMode="auto">
            <a:xfrm>
              <a:off x="539552" y="2506984"/>
              <a:ext cx="1355576" cy="13080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8865" name="Google Shape;174;p24" descr="E:\002-KIMS BUSINESS\007-02-Fullslidesppt-Contents\20161219\02-abs\flower-item01.png">
              <a:extLst>
                <a:ext uri="{FF2B5EF4-FFF2-40B4-BE49-F238E27FC236}">
                  <a16:creationId xmlns:a16="http://schemas.microsoft.com/office/drawing/2014/main" id="{69D886C6-794E-49BB-AF24-379BC6DD7792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/>
            </a:blip>
            <a:srcRect/>
            <a:stretch>
              <a:fillRect/>
            </a:stretch>
          </p:blipFill>
          <p:spPr bwMode="auto">
            <a:xfrm>
              <a:off x="1094524" y="915566"/>
              <a:ext cx="2232248" cy="21540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8866" name="Google Shape;175;p24" descr="E:\002-KIMS BUSINESS\007-02-Fullslidesppt-Contents\20161219\02-abs\flower-item02.png">
              <a:extLst>
                <a:ext uri="{FF2B5EF4-FFF2-40B4-BE49-F238E27FC236}">
                  <a16:creationId xmlns:a16="http://schemas.microsoft.com/office/drawing/2014/main" id="{A48AD20F-8AA2-40FE-BF1E-43FE2DA976E9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/>
            </a:blip>
            <a:srcRect/>
            <a:stretch>
              <a:fillRect/>
            </a:stretch>
          </p:blipFill>
          <p:spPr bwMode="auto">
            <a:xfrm>
              <a:off x="250658" y="195486"/>
              <a:ext cx="1250988" cy="1238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8867" name="Google Shape;176;p24" descr="E:\002-KIMS BUSINESS\007-02-Fullslidesppt-Contents\20161219\02-abs\flower-item02.png">
              <a:extLst>
                <a:ext uri="{FF2B5EF4-FFF2-40B4-BE49-F238E27FC236}">
                  <a16:creationId xmlns:a16="http://schemas.microsoft.com/office/drawing/2014/main" id="{3D781993-51CB-4A1D-BBB6-45847DCFE378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/>
            </a:blip>
            <a:srcRect/>
            <a:stretch>
              <a:fillRect/>
            </a:stretch>
          </p:blipFill>
          <p:spPr bwMode="auto">
            <a:xfrm>
              <a:off x="-59952" y="1645346"/>
              <a:ext cx="936104" cy="926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8868" name="Google Shape;177;p24" descr="E:\002-KIMS BUSINESS\007-02-Fullslidesppt-Contents\20161219\02-abs\flower-item02.png">
              <a:extLst>
                <a:ext uri="{FF2B5EF4-FFF2-40B4-BE49-F238E27FC236}">
                  <a16:creationId xmlns:a16="http://schemas.microsoft.com/office/drawing/2014/main" id="{91B55985-9F9F-48CD-9570-3FC02F446106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/>
            </a:blip>
            <a:srcRect/>
            <a:stretch>
              <a:fillRect/>
            </a:stretch>
          </p:blipFill>
          <p:spPr bwMode="auto">
            <a:xfrm>
              <a:off x="107504" y="3818086"/>
              <a:ext cx="1250988" cy="12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8869" name="Google Shape;178;p24" descr="E:\002-KIMS BUSINESS\007-02-Fullslidesppt-Contents\20161219\02-abs\flower-item02.png">
              <a:extLst>
                <a:ext uri="{FF2B5EF4-FFF2-40B4-BE49-F238E27FC236}">
                  <a16:creationId xmlns:a16="http://schemas.microsoft.com/office/drawing/2014/main" id="{5522BD5F-21A8-4814-8178-F6462172360D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/>
            </a:blip>
            <a:srcRect/>
            <a:stretch>
              <a:fillRect/>
            </a:stretch>
          </p:blipFill>
          <p:spPr bwMode="auto">
            <a:xfrm>
              <a:off x="1532538" y="4291593"/>
              <a:ext cx="853097" cy="844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32E59A95-C49F-445B-912B-00F98ADE3B65}"/>
              </a:ext>
            </a:extLst>
          </p:cNvPr>
          <p:cNvSpPr/>
          <p:nvPr/>
        </p:nvSpPr>
        <p:spPr>
          <a:xfrm>
            <a:off x="733427" y="560070"/>
            <a:ext cx="4297680" cy="4297680"/>
          </a:xfrm>
          <a:prstGeom prst="ellipse">
            <a:avLst/>
          </a:prstGeom>
          <a:noFill/>
          <a:ln w="279400">
            <a:solidFill>
              <a:schemeClr val="accent4">
                <a:lumMod val="60000"/>
                <a:lumOff val="40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defRPr/>
            </a:pPr>
            <a:r>
              <a:rPr lang="en-US" sz="7200" b="1" kern="0" dirty="0">
                <a:solidFill>
                  <a:schemeClr val="accent5">
                    <a:lumMod val="50000"/>
                  </a:schemeClr>
                </a:solidFill>
                <a:latin typeface="Footlight MT Light" pitchFamily="18" charset="0"/>
                <a:ea typeface="Oswald"/>
                <a:cs typeface="Oswald"/>
                <a:sym typeface="Oswald"/>
              </a:rPr>
              <a:t>THANK YOU !</a:t>
            </a: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12B47555-7173-4F75-B349-157C11CA0BCE}"/>
              </a:ext>
            </a:extLst>
          </p:cNvPr>
          <p:cNvSpPr/>
          <p:nvPr/>
        </p:nvSpPr>
        <p:spPr>
          <a:xfrm>
            <a:off x="5595583" y="3725836"/>
            <a:ext cx="5936775" cy="2007643"/>
          </a:xfrm>
          <a:prstGeom prst="round2DiagRect">
            <a:avLst/>
          </a:prstGeom>
          <a:noFill/>
          <a:ln w="279400">
            <a:solidFill>
              <a:schemeClr val="accent4">
                <a:lumMod val="60000"/>
                <a:lumOff val="40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6" rIns="91432" bIns="4571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25212A"/>
              </a:buClr>
              <a:buSzPts val="2400"/>
              <a:defRPr/>
            </a:pPr>
            <a:r>
              <a:rPr lang="en-US" sz="1600" b="1" kern="0">
                <a:solidFill>
                  <a:srgbClr val="843C0C"/>
                </a:solidFill>
                <a:latin typeface="Footlight MT Light" panose="0204060206030A020304" pitchFamily="18" charset="0"/>
                <a:ea typeface="Oswald"/>
                <a:cs typeface="Oswald"/>
                <a:sym typeface="Oswald"/>
              </a:rPr>
              <a:t>With Regards:
Aditya Kumar (1ME23IS003)
Rajeev Ranjan (1ME23IS032)
Saurabh (1ME23IS039)
Saurabh Kumar (1ME23IS040)
Dept. of Information Science &amp; Engg, MSEC</a:t>
            </a:r>
            <a:endParaRPr lang="en-US" sz="1600" b="1" kern="0" dirty="0">
              <a:solidFill>
                <a:srgbClr val="843C0C"/>
              </a:solidFill>
              <a:latin typeface="Footlight MT Light" panose="0204060206030A020304" pitchFamily="18" charset="0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F3F3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19839</TotalTime>
  <Words>2305</Words>
  <Application>Microsoft Office PowerPoint</Application>
  <PresentationFormat>Custom</PresentationFormat>
  <Paragraphs>68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Arial</vt:lpstr>
      <vt:lpstr>Calibri Light</vt:lpstr>
      <vt:lpstr>Calibri</vt:lpstr>
      <vt:lpstr>Century</vt:lpstr>
      <vt:lpstr>PMingLiU</vt:lpstr>
      <vt:lpstr>Gill Sans MT</vt:lpstr>
      <vt:lpstr>Footlight MT Light</vt:lpstr>
      <vt:lpstr>Garamond</vt:lpstr>
      <vt:lpstr>Aparajita</vt:lpstr>
      <vt:lpstr>Tinos</vt:lpstr>
      <vt:lpstr>Wingdings</vt:lpstr>
      <vt:lpstr>Agency FB</vt:lpstr>
      <vt:lpstr>Oswald</vt:lpstr>
      <vt:lpstr>Theme1</vt:lpstr>
      <vt:lpstr>2_Office Theme</vt:lpstr>
      <vt:lpstr>PowerPoint Presentation</vt:lpstr>
      <vt:lpstr>Flow of Presentation </vt:lpstr>
      <vt:lpstr>ABSTRACT</vt:lpstr>
      <vt:lpstr>INTRODUCTION</vt:lpstr>
      <vt:lpstr>LITERATURE REVIEW</vt:lpstr>
      <vt:lpstr>SYSTEM ANALYSIS</vt:lpstr>
      <vt:lpstr>SYSTEM DESIGN</vt:lpstr>
      <vt:lpstr>SYSTEM DESIGN - HIGH LEVEL DESIGN (HLD)</vt:lpstr>
      <vt:lpstr>SYSTEM DESIGN - LOW LEVEL DESIGN (LLD)</vt:lpstr>
      <vt:lpstr>IMPLEMENTATION</vt:lpstr>
      <vt:lpstr>IMPLEMENTATION - SYSTEM WORKFLOW &amp; FLOWCHART</vt:lpstr>
      <vt:lpstr>TESTING</vt:lpstr>
      <vt:lpstr>CONCLUSION</vt:lpstr>
      <vt:lpstr>PROJECT OVERVIEW &amp; TRUST ECOSYSTEM</vt:lpstr>
      <vt:lpstr>SCREENSHOTS - DASHBOARD &amp; RESUME SCANNER</vt:lpstr>
      <vt:lpstr>SCREENSHOTS - AI FRAUD DETECTION &amp; VERIFICATION RESULTS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Supervised Machine Learning Systems for Automatic Text Mining.</dc:title>
  <dc:creator>lenovo</dc:creator>
  <cp:lastModifiedBy>Saurabh Kumar</cp:lastModifiedBy>
  <cp:revision>760</cp:revision>
  <dcterms:created xsi:type="dcterms:W3CDTF">2018-12-06T12:19:53Z</dcterms:created>
  <dcterms:modified xsi:type="dcterms:W3CDTF">2026-10-13T05:10:02Z</dcterms:modified>
</cp:coreProperties>
</file>